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Buenos días/tardes. Somos el equipo consultor a cargo de Inteligencia de Catálogo para StreamView Analytics, una plataforma de streaming que necesita entender su catálogo de 31.991 títulos, entre 2010 y 2025, para tomar mejores decisiones de contenido. Trabajamos bajo metodología CRISP-DM y nuestro destinatario principal es la Dirección de Contenidos.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El problema que nos encargaron no es de falta de datos: es de falta de una lectura integrada. Hoy StreamView no distingue entre el contenido que genera tráfico y el que genera satisfacción real — y eso importa, porque el tráfico sostiene el consumo del mes, pero la satisfacción sostiene la renovación de la suscripción. La pregunta que guía todo nuestro trabajo es: ¿qué concentra la atención, qué concentra la valoración, y qué decisiones se desprenden de esa diferencia? Diseñamos la solución para tres audiencias: la Dirección de Contenidos, que decide qué adquirir y producir; el comité ejecutivo, que asigna presupuesto; y el equipo de producto, que decide qué promover.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Trabajamos con CRISP-DM, las seis fases clásicas de minería de datos. Quiero destacar algo: el método fue realmente iterativo. En la fase de análisis descubrimos que películas y series usaban taxonomías de género distintas, y tuvimos que volver a la fase de preparación para armonizarlas antes de seguir.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Antes de sacar cualquier conclusión hicimos un diagnóstico riguroso de los datos, y encontramos algo clave: ambas fuentes tienen exactamente 1.000 títulos por año, sin excepción. Eso no es el catálogo real: es una muestra estratificada, así que nunca vamos a decir que el catálogo 'creció', porque el diseño del muestreo lo impide. También corregimos calificaciones en cero que en realidad eran ausencia de votos, columnas redundantes, y armonizamos las taxonomías de género entre ambos formatos.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Partimos por entender la composición del catálogo. Drama y Comedia concentran la oferta, tanto en películas como en series: es una apuesta bastante concentrada en géneros masivos.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Y en cuanto a calidad, la noticia es buena: mejora sostenidamente año a año en ambos formatos. No hay, a priori, un problema de calidad del contenido.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Pero aquí aparece la primera tensión del relato: la atención de la audiencia no se reparte parejo, se concentra en muy pocos títulos. El título más popular supera 291 veces al título mediano, y solo 320 títulos superan el percentil 99. La inmensa mayoría del catálogo vive con una exposición marginal.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Y acá viene el giro de toda nuestra narrativa: si la atención se concentra en pocos títulos, uno esperaría que al menos esos títulos sean los mejor evaluados. No es así. Calculamos la correlación entre popularidad y calificación por separado en cada formato, porque el índice de popularidad no es comparable entre películas y series. El resultado: 0,09 en películas, 0,01 en series. Prácticamente cero. Saber que un título es popular no nos dice nada sobre si es bueno. Esto divide el catálogo en cuatro cuadrantes de decisión.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Esos cuatro cuadrantes son accionables: los éxitos consolidados, 4.438 títulos, hay que protegerlos. Los populares mal evaluados, 3.262 títulos, hay que vigilarlos porque generan tráfico pero erosionan la percepción de calidad. Los de bajo rendimiento son candidatos a depuración. Y el cuadrante que más nos importa: calidad sin visibilidad, 3.222 títulos. Es contenido que la audiencia valora, pero que hoy no está encontrando. Ese va a ser el corazón de nuestra propuesta comercial.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Si miramos por género, el patrón se repite: los géneros mejor evaluados —documental, infantil, musical— son justamente los menos representados en el catálogo. En el extremo opuesto, terror y suspenso concentran casi 5.951 títulos con las peores calificaciones.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Lo mismo pasa con los mercados de origen. El inglés concentra casi la mitad del catálogo calificado, un 47%, pero ocupa el lugar 10 de 12 en calificación promedio. Hay mercados como el japonés o el chino que rinden mejor y están subrepresentados.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En lo financiero encontramos algo contraintuitivo: la tasa de éxito comercial efectivamente crece con la escala de inversión, pero el peor desempeño no está en las apuestas chicas, está en el tramo medio de presupuesto: solo 56,2% de éxito, por debajo incluso del tramo bajo. Y es justamente donde se concentra el mayor número de películas, 1.632.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Todo este análisis lo hicimos explorable en un dashboard interactivo, construido en Python con Plotly. Tiene KPIs que se recalculan en vivo, cinco filtros cruzados, cuatro pestañas de navegación e interacción completa. Lo construimos en HTML autocontenido a propósito: para que cualquier persona en la organización lo pueda abrir sin instalar nada.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Somos igual de rigurosos con nuestras propias limitaciones. La principal: no tenemos datos de comportamiento real de usuarios, ni reproducciones, ni suscripciones, ni cancelaciones. Usamos popularidad como aproximación de atención, pero no podemos medir retención real. Eso condiciona cómo hay que leer nuestras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A partir de estos hallazgos proponemos tres palancas comerciales concretas, ninguna basada en variables financieras: Joyas Ocultas, Momentum por Género, y Series como Ancla de suscripción. Cada una con su mecanismo de atracción, de retención, y su KPI.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Nos detenemos en la primera porque es la más importante: Programa Joyas Ocultas. Son 3.222 títulos que ya están en el catálogo, ya pagados, con calificaciones de 7,03 en películas y 7,99 en series, por encima del resto del catálogo. La propuesta es simple: exponerlos mejor en el descubrimiento, con una fila editorial dedicada. El costo de adquisición de contenido es cero. La palanca es exposición, no compra.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Cerramos con cinco recomendaciones priorizadas por costo de implementación: desde activar la calidad sin visibilidad —costo marginal cero— hasta incorporar datos de usuario a futuro, que es la recomendación de mayor alcance pero también la de mayor inversión.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Y la conclusión que queremos dejarles es esta: StreamView Analytics no tiene un problema de catálogo, tiene un problema de visibilidad. El contenido que su audiencia mejor valora ya está comprado. Solo no se está mostrando. Muchas gracias,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5486400" cy="365760"/>
          </a:xfrm>
          <a:prstGeom prst="rect">
            <a:avLst/>
          </a:prstGeom>
          <a:noFill/>
        </p:spPr>
        <p:txBody>
          <a:bodyPr wrap="square" anchor="t" lIns="0" rIns="0" tIns="0" bIns="0">
            <a:noAutofit/>
          </a:bodyPr>
          <a:lstStyle/>
          <a:p>
            <a:pPr algn="l"/>
            <a:r>
              <a:rPr sz="1500" b="1" i="0">
                <a:solidFill>
                  <a:srgbClr val="FFFFFF"/>
                </a:solidFill>
                <a:latin typeface="Calibri"/>
              </a:rPr>
              <a:t>StreamView </a:t>
            </a:r>
            <a:r>
              <a:rPr sz="1500" b="1" i="0">
                <a:solidFill>
                  <a:srgbClr val="E50914"/>
                </a:solidFill>
                <a:latin typeface="Calibri"/>
              </a:rPr>
              <a:t>Analytics</a:t>
            </a:r>
          </a:p>
        </p:txBody>
      </p:sp>
      <p:sp>
        <p:nvSpPr>
          <p:cNvPr id="4" name="TextBox 3"/>
          <p:cNvSpPr txBox="1"/>
          <p:nvPr/>
        </p:nvSpPr>
        <p:spPr>
          <a:xfrm>
            <a:off x="502920" y="2331720"/>
            <a:ext cx="10515600" cy="1554480"/>
          </a:xfrm>
          <a:prstGeom prst="rect">
            <a:avLst/>
          </a:prstGeom>
          <a:noFill/>
        </p:spPr>
        <p:txBody>
          <a:bodyPr wrap="square" anchor="t" lIns="0" rIns="0" tIns="0" bIns="0">
            <a:noAutofit/>
          </a:bodyPr>
          <a:lstStyle/>
          <a:p>
            <a:pPr algn="l">
              <a:lnSpc>
                <a:spcPct val="102000"/>
              </a:lnSpc>
            </a:pPr>
            <a:r>
              <a:rPr sz="4800" b="1" i="0">
                <a:solidFill>
                  <a:srgbClr val="FFFFFF"/>
                </a:solidFill>
                <a:latin typeface="Cambria"/>
              </a:rPr>
              <a:t>Inteligencia de Catálogo</a:t>
            </a:r>
          </a:p>
        </p:txBody>
      </p:sp>
      <p:sp>
        <p:nvSpPr>
          <p:cNvPr id="5" name="TextBox 4"/>
          <p:cNvSpPr txBox="1"/>
          <p:nvPr/>
        </p:nvSpPr>
        <p:spPr>
          <a:xfrm>
            <a:off x="502920" y="3611880"/>
            <a:ext cx="8686800" cy="822960"/>
          </a:xfrm>
          <a:prstGeom prst="rect">
            <a:avLst/>
          </a:prstGeom>
          <a:noFill/>
        </p:spPr>
        <p:txBody>
          <a:bodyPr wrap="square" anchor="t" lIns="0" rIns="0" tIns="0" bIns="0">
            <a:noAutofit/>
          </a:bodyPr>
          <a:lstStyle/>
          <a:p>
            <a:pPr algn="l">
              <a:lnSpc>
                <a:spcPct val="125000"/>
              </a:lnSpc>
            </a:pPr>
            <a:r>
              <a:rPr sz="1700" b="0" i="0">
                <a:solidFill>
                  <a:srgbClr val="B8B4B4"/>
                </a:solidFill>
                <a:latin typeface="Calibri"/>
              </a:rPr>
              <a:t>Qué mira la audiencia, qué valora, y por qué no son lo mismo</a:t>
            </a:r>
          </a:p>
        </p:txBody>
      </p:sp>
      <p:sp>
        <p:nvSpPr>
          <p:cNvPr id="6" name="Rectangle 5"/>
          <p:cNvSpPr/>
          <p:nvPr/>
        </p:nvSpPr>
        <p:spPr>
          <a:xfrm>
            <a:off x="502920" y="5806440"/>
            <a:ext cx="11185855" cy="12700"/>
          </a:xfrm>
          <a:prstGeom prst="rect">
            <a:avLst/>
          </a:prstGeom>
          <a:solidFill>
            <a:srgbClr val="3A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989320"/>
            <a:ext cx="2613583" cy="640080"/>
          </a:xfrm>
          <a:prstGeom prst="rect">
            <a:avLst/>
          </a:prstGeom>
          <a:noFill/>
        </p:spPr>
        <p:txBody>
          <a:bodyPr wrap="square" anchor="t" lIns="0" rIns="0" tIns="0" bIns="0">
            <a:noAutofit/>
          </a:bodyPr>
          <a:lstStyle/>
          <a:p>
            <a:pPr algn="l">
              <a:spcAft>
                <a:spcPts val="200"/>
              </a:spcAft>
            </a:pPr>
            <a:r>
              <a:rPr sz="800" b="1" i="0">
                <a:solidFill>
                  <a:srgbClr val="8E8A8A"/>
                </a:solidFill>
                <a:latin typeface="Calibri"/>
              </a:rPr>
              <a:t>METODOLOGÍA</a:t>
            </a:r>
          </a:p>
          <a:p>
            <a:pPr algn="l">
              <a:lnSpc>
                <a:spcPct val="115000"/>
              </a:lnSpc>
            </a:pPr>
            <a:r>
              <a:rPr sz="1050" b="0" i="0">
                <a:solidFill>
                  <a:srgbClr val="FFFFFF"/>
                </a:solidFill>
                <a:latin typeface="Calibri"/>
              </a:rPr>
              <a:t>CRISP-DM · Fases 1 a 6</a:t>
            </a:r>
          </a:p>
        </p:txBody>
      </p:sp>
      <p:sp>
        <p:nvSpPr>
          <p:cNvPr id="8" name="TextBox 7"/>
          <p:cNvSpPr txBox="1"/>
          <p:nvPr/>
        </p:nvSpPr>
        <p:spPr>
          <a:xfrm>
            <a:off x="3299383" y="5989320"/>
            <a:ext cx="2613583" cy="640080"/>
          </a:xfrm>
          <a:prstGeom prst="rect">
            <a:avLst/>
          </a:prstGeom>
          <a:noFill/>
        </p:spPr>
        <p:txBody>
          <a:bodyPr wrap="square" anchor="t" lIns="0" rIns="0" tIns="0" bIns="0">
            <a:noAutofit/>
          </a:bodyPr>
          <a:lstStyle/>
          <a:p>
            <a:pPr algn="l">
              <a:spcAft>
                <a:spcPts val="200"/>
              </a:spcAft>
            </a:pPr>
            <a:r>
              <a:rPr sz="800" b="1" i="0">
                <a:solidFill>
                  <a:srgbClr val="8E8A8A"/>
                </a:solidFill>
                <a:latin typeface="Calibri"/>
              </a:rPr>
              <a:t>ALCANCE</a:t>
            </a:r>
          </a:p>
          <a:p>
            <a:pPr algn="l">
              <a:lnSpc>
                <a:spcPct val="115000"/>
              </a:lnSpc>
            </a:pPr>
            <a:r>
              <a:rPr sz="1050" b="0" i="0">
                <a:solidFill>
                  <a:srgbClr val="FFFFFF"/>
                </a:solidFill>
                <a:latin typeface="Calibri"/>
              </a:rPr>
              <a:t>31.991 títulos · 2010–2025</a:t>
            </a:r>
          </a:p>
        </p:txBody>
      </p:sp>
      <p:sp>
        <p:nvSpPr>
          <p:cNvPr id="9" name="TextBox 8"/>
          <p:cNvSpPr txBox="1"/>
          <p:nvPr/>
        </p:nvSpPr>
        <p:spPr>
          <a:xfrm>
            <a:off x="6095846" y="5989320"/>
            <a:ext cx="2613583" cy="640080"/>
          </a:xfrm>
          <a:prstGeom prst="rect">
            <a:avLst/>
          </a:prstGeom>
          <a:noFill/>
        </p:spPr>
        <p:txBody>
          <a:bodyPr wrap="square" anchor="t" lIns="0" rIns="0" tIns="0" bIns="0">
            <a:noAutofit/>
          </a:bodyPr>
          <a:lstStyle/>
          <a:p>
            <a:pPr algn="l">
              <a:spcAft>
                <a:spcPts val="200"/>
              </a:spcAft>
            </a:pPr>
            <a:r>
              <a:rPr sz="800" b="1" i="0">
                <a:solidFill>
                  <a:srgbClr val="8E8A8A"/>
                </a:solidFill>
                <a:latin typeface="Calibri"/>
              </a:rPr>
              <a:t>DESTINATARIO</a:t>
            </a:r>
          </a:p>
          <a:p>
            <a:pPr algn="l">
              <a:lnSpc>
                <a:spcPct val="115000"/>
              </a:lnSpc>
            </a:pPr>
            <a:r>
              <a:rPr sz="1050" b="0" i="0">
                <a:solidFill>
                  <a:srgbClr val="FFFFFF"/>
                </a:solidFill>
                <a:latin typeface="Calibri"/>
              </a:rPr>
              <a:t>Dirección de Contenidos</a:t>
            </a:r>
          </a:p>
        </p:txBody>
      </p:sp>
      <p:sp>
        <p:nvSpPr>
          <p:cNvPr id="10" name="TextBox 9"/>
          <p:cNvSpPr txBox="1"/>
          <p:nvPr/>
        </p:nvSpPr>
        <p:spPr>
          <a:xfrm>
            <a:off x="8892309" y="5989320"/>
            <a:ext cx="2613583" cy="640080"/>
          </a:xfrm>
          <a:prstGeom prst="rect">
            <a:avLst/>
          </a:prstGeom>
          <a:noFill/>
        </p:spPr>
        <p:txBody>
          <a:bodyPr wrap="square" anchor="t" lIns="0" rIns="0" tIns="0" bIns="0">
            <a:noAutofit/>
          </a:bodyPr>
          <a:lstStyle/>
          <a:p>
            <a:pPr algn="l">
              <a:spcAft>
                <a:spcPts val="200"/>
              </a:spcAft>
            </a:pPr>
            <a:r>
              <a:rPr sz="800" b="1" i="0">
                <a:solidFill>
                  <a:srgbClr val="8E8A8A"/>
                </a:solidFill>
                <a:latin typeface="Calibri"/>
              </a:rPr>
              <a:t>ASIGNATURA</a:t>
            </a:r>
          </a:p>
          <a:p>
            <a:pPr algn="l">
              <a:lnSpc>
                <a:spcPct val="115000"/>
              </a:lnSpc>
            </a:pPr>
            <a:r>
              <a:rPr sz="1050" b="0" i="0">
                <a:solidFill>
                  <a:srgbClr val="FFFFFF"/>
                </a:solidFill>
                <a:latin typeface="Calibri"/>
              </a:rPr>
              <a:t>ADY1104 Visualización de Datos</a:t>
            </a:r>
          </a:p>
        </p:txBody>
      </p:sp>
      <p:sp>
        <p:nvSpPr>
          <p:cNvPr id="11" name="TextBox 10"/>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8E8A8A"/>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EL ENCARGO</a:t>
            </a:r>
          </a:p>
        </p:txBody>
      </p:sp>
      <p:sp>
        <p:nvSpPr>
          <p:cNvPr id="4" name="TextBox 3"/>
          <p:cNvSpPr txBox="1"/>
          <p:nvPr/>
        </p:nvSpPr>
        <p:spPr>
          <a:xfrm>
            <a:off x="502920" y="749808"/>
            <a:ext cx="10607040" cy="1051560"/>
          </a:xfrm>
          <a:prstGeom prst="rect">
            <a:avLst/>
          </a:prstGeom>
          <a:noFill/>
        </p:spPr>
        <p:txBody>
          <a:bodyPr wrap="square" anchor="t" lIns="0" rIns="0" tIns="0" bIns="0">
            <a:noAutofit/>
          </a:bodyPr>
          <a:lstStyle/>
          <a:p>
            <a:pPr algn="l">
              <a:lnSpc>
                <a:spcPct val="104000"/>
              </a:lnSpc>
            </a:pPr>
            <a:r>
              <a:rPr sz="2200" b="1" i="0">
                <a:solidFill>
                  <a:srgbClr val="1A1818"/>
                </a:solidFill>
                <a:latin typeface="Cambria"/>
              </a:rPr>
              <a:t>La Dirección de Contenidos decide qué comprar, qué producir y qué promover. Hoy lo hace sin evidencia integrada.</a:t>
            </a:r>
          </a:p>
        </p:txBody>
      </p:sp>
      <p:sp>
        <p:nvSpPr>
          <p:cNvPr id="5" name="Rectangle 4"/>
          <p:cNvSpPr/>
          <p:nvPr/>
        </p:nvSpPr>
        <p:spPr>
          <a:xfrm>
            <a:off x="502920" y="2176272"/>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48840"/>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El problema</a:t>
            </a:r>
          </a:p>
          <a:p>
            <a:pPr algn="l">
              <a:lnSpc>
                <a:spcPct val="112000"/>
              </a:lnSpc>
            </a:pPr>
            <a:r>
              <a:rPr sz="1250" b="0" i="0">
                <a:solidFill>
                  <a:srgbClr val="1A1818"/>
                </a:solidFill>
                <a:latin typeface="Calibri"/>
              </a:rPr>
              <a:t>No existe una lectura que distinga el contenido que genera tráfico del que genera satisfacción.</a:t>
            </a:r>
          </a:p>
        </p:txBody>
      </p:sp>
      <p:sp>
        <p:nvSpPr>
          <p:cNvPr id="7" name="Rectangle 6"/>
          <p:cNvSpPr/>
          <p:nvPr/>
        </p:nvSpPr>
        <p:spPr>
          <a:xfrm>
            <a:off x="502920" y="3054096"/>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3026664"/>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Por qué importa</a:t>
            </a:r>
          </a:p>
          <a:p>
            <a:pPr algn="l">
              <a:lnSpc>
                <a:spcPct val="112000"/>
              </a:lnSpc>
            </a:pPr>
            <a:r>
              <a:rPr sz="1250" b="0" i="0">
                <a:solidFill>
                  <a:srgbClr val="1A1818"/>
                </a:solidFill>
                <a:latin typeface="Calibri"/>
              </a:rPr>
              <a:t>El tráfico sostiene el consumo del mes; la satisfacción sostiene la renovación de la suscripción.</a:t>
            </a:r>
          </a:p>
        </p:txBody>
      </p:sp>
      <p:sp>
        <p:nvSpPr>
          <p:cNvPr id="9" name="Rectangle 8"/>
          <p:cNvSpPr/>
          <p:nvPr/>
        </p:nvSpPr>
        <p:spPr>
          <a:xfrm>
            <a:off x="502920" y="3931920"/>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3904488"/>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La pregunta</a:t>
            </a:r>
          </a:p>
          <a:p>
            <a:pPr algn="l">
              <a:lnSpc>
                <a:spcPct val="112000"/>
              </a:lnSpc>
            </a:pPr>
            <a:r>
              <a:rPr sz="1250" b="0" i="0">
                <a:solidFill>
                  <a:srgbClr val="1A1818"/>
                </a:solidFill>
                <a:latin typeface="Calibri"/>
              </a:rPr>
              <a:t>¿Qué concentra la atención, qué concentra la valoración, y qué decisiones se desprenden de la diferencia?</a:t>
            </a:r>
          </a:p>
        </p:txBody>
      </p:sp>
      <p:graphicFrame>
        <p:nvGraphicFramePr>
          <p:cNvPr id="11" name="Table 10"/>
          <p:cNvGraphicFramePr>
            <a:graphicFrameLocks noGrp="1"/>
          </p:cNvGraphicFramePr>
          <p:nvPr/>
        </p:nvGraphicFramePr>
        <p:xfrm>
          <a:off x="6324447" y="2148840"/>
          <a:ext cx="5364326" cy="1554480"/>
        </p:xfrm>
        <a:graphic>
          <a:graphicData uri="http://schemas.openxmlformats.org/drawingml/2006/table">
            <a:tbl>
              <a:tblPr/>
              <a:tblGrid>
                <a:gridCol w="2253017"/>
                <a:gridCol w="3111309"/>
              </a:tblGrid>
              <a:tr h="388620">
                <a:tc>
                  <a:txBody>
                    <a:bodyPr wrap="square"/>
                    <a:lstStyle/>
                    <a:p>
                      <a:pPr algn="l"/>
                      <a:r>
                        <a:rPr sz="950" b="1">
                          <a:solidFill>
                            <a:srgbClr val="FFFFFF"/>
                          </a:solidFill>
                          <a:latin typeface="Calibri"/>
                        </a:rPr>
                        <a:t>AUDIENCIA</a:t>
                      </a:r>
                    </a:p>
                  </a:txBody>
                  <a:tcPr marL="88900" marR="88900" marT="38100" marB="38100" anchor="ctr">
                    <a:solidFill>
                      <a:srgbClr val="1A1818"/>
                    </a:solidFill>
                  </a:tcPr>
                </a:tc>
                <a:tc>
                  <a:txBody>
                    <a:bodyPr wrap="square"/>
                    <a:lstStyle/>
                    <a:p>
                      <a:pPr algn="l"/>
                      <a:r>
                        <a:rPr sz="950" b="1">
                          <a:solidFill>
                            <a:srgbClr val="FFFFFF"/>
                          </a:solidFill>
                          <a:latin typeface="Calibri"/>
                        </a:rPr>
                        <a:t>QUÉ DECIDE</a:t>
                      </a:r>
                    </a:p>
                  </a:txBody>
                  <a:tcPr marL="88900" marR="88900" marT="38100" marB="38100" anchor="ctr">
                    <a:solidFill>
                      <a:srgbClr val="1A1818"/>
                    </a:solidFill>
                  </a:tcPr>
                </a:tc>
              </a:tr>
              <a:tr h="388620">
                <a:tc>
                  <a:txBody>
                    <a:bodyPr wrap="square"/>
                    <a:lstStyle/>
                    <a:p>
                      <a:pPr algn="l"/>
                      <a:r>
                        <a:rPr sz="1100" b="1">
                          <a:solidFill>
                            <a:srgbClr val="1A1818"/>
                          </a:solidFill>
                          <a:latin typeface="Calibri"/>
                        </a:rPr>
                        <a:t>Dirección de Contenidos (principal)</a:t>
                      </a:r>
                    </a:p>
                  </a:txBody>
                  <a:tcPr marL="88900" marR="88900" marT="38100" marB="38100" anchor="ctr">
                    <a:solidFill>
                      <a:srgbClr val="FFFFFF"/>
                    </a:solidFill>
                  </a:tcPr>
                </a:tc>
                <a:tc>
                  <a:txBody>
                    <a:bodyPr wrap="square"/>
                    <a:lstStyle/>
                    <a:p>
                      <a:pPr algn="l"/>
                      <a:r>
                        <a:rPr sz="1100" b="0">
                          <a:solidFill>
                            <a:srgbClr val="1A1818"/>
                          </a:solidFill>
                          <a:latin typeface="Calibri"/>
                        </a:rPr>
                        <a:t>Qué adquirir, producir y renovar</a:t>
                      </a:r>
                    </a:p>
                  </a:txBody>
                  <a:tcPr marL="88900" marR="88900" marT="38100" marB="38100" anchor="ctr">
                    <a:solidFill>
                      <a:srgbClr val="FFFFFF"/>
                    </a:solidFill>
                  </a:tcPr>
                </a:tc>
              </a:tr>
              <a:tr h="388620">
                <a:tc>
                  <a:txBody>
                    <a:bodyPr wrap="square"/>
                    <a:lstStyle/>
                    <a:p>
                      <a:pPr algn="l"/>
                      <a:r>
                        <a:rPr sz="1100" b="0">
                          <a:solidFill>
                            <a:srgbClr val="1A1818"/>
                          </a:solidFill>
                          <a:latin typeface="Calibri"/>
                        </a:rPr>
                        <a:t>Comité ejecutivo</a:t>
                      </a:r>
                    </a:p>
                  </a:txBody>
                  <a:tcPr marL="88900" marR="88900" marT="38100" marB="38100" anchor="ctr">
                    <a:solidFill>
                      <a:srgbClr val="FAF9F8"/>
                    </a:solidFill>
                  </a:tcPr>
                </a:tc>
                <a:tc>
                  <a:txBody>
                    <a:bodyPr wrap="square"/>
                    <a:lstStyle/>
                    <a:p>
                      <a:pPr algn="l"/>
                      <a:r>
                        <a:rPr sz="1100" b="0">
                          <a:solidFill>
                            <a:srgbClr val="1A1818"/>
                          </a:solidFill>
                          <a:latin typeface="Calibri"/>
                        </a:rPr>
                        <a:t>Asignación de presupuesto</a:t>
                      </a:r>
                    </a:p>
                  </a:txBody>
                  <a:tcPr marL="88900" marR="88900" marT="38100" marB="38100" anchor="ctr">
                    <a:solidFill>
                      <a:srgbClr val="FAF9F8"/>
                    </a:solidFill>
                  </a:tcPr>
                </a:tc>
              </a:tr>
              <a:tr h="388620">
                <a:tc>
                  <a:txBody>
                    <a:bodyPr wrap="square"/>
                    <a:lstStyle/>
                    <a:p>
                      <a:pPr algn="l"/>
                      <a:r>
                        <a:rPr sz="1100" b="0">
                          <a:solidFill>
                            <a:srgbClr val="1A1818"/>
                          </a:solidFill>
                          <a:latin typeface="Calibri"/>
                        </a:rPr>
                        <a:t>Producto y curatoría</a:t>
                      </a:r>
                    </a:p>
                  </a:txBody>
                  <a:tcPr marL="88900" marR="88900" marT="38100" marB="38100" anchor="ctr">
                    <a:solidFill>
                      <a:srgbClr val="FFFFFF"/>
                    </a:solidFill>
                  </a:tcPr>
                </a:tc>
                <a:tc>
                  <a:txBody>
                    <a:bodyPr wrap="square"/>
                    <a:lstStyle/>
                    <a:p>
                      <a:pPr algn="l"/>
                      <a:r>
                        <a:rPr sz="1100" b="0">
                          <a:solidFill>
                            <a:srgbClr val="1A1818"/>
                          </a:solidFill>
                          <a:latin typeface="Calibri"/>
                        </a:rPr>
                        <a:t>Qué promover y ordenar el descubrimiento</a:t>
                      </a:r>
                    </a:p>
                  </a:txBody>
                  <a:tcPr marL="88900" marR="88900" marT="38100" marB="38100" anchor="ctr">
                    <a:solidFill>
                      <a:srgbClr val="FFFFFF"/>
                    </a:solidFill>
                  </a:tcPr>
                </a:tc>
              </a:tr>
            </a:tbl>
          </a:graphicData>
        </a:graphic>
      </p:graphicFrame>
      <p:sp>
        <p:nvSpPr>
          <p:cNvPr id="12" name="TextBox 11"/>
          <p:cNvSpPr txBox="1"/>
          <p:nvPr/>
        </p:nvSpPr>
        <p:spPr>
          <a:xfrm>
            <a:off x="6324447" y="3977639"/>
            <a:ext cx="5364327" cy="548640"/>
          </a:xfrm>
          <a:prstGeom prst="rect">
            <a:avLst/>
          </a:prstGeom>
          <a:noFill/>
        </p:spPr>
        <p:txBody>
          <a:bodyPr wrap="square" anchor="t" lIns="0" rIns="0" tIns="0" bIns="0">
            <a:noAutofit/>
          </a:bodyPr>
          <a:lstStyle/>
          <a:p>
            <a:pPr algn="l">
              <a:lnSpc>
                <a:spcPct val="120000"/>
              </a:lnSpc>
            </a:pPr>
            <a:r>
              <a:rPr sz="1200" b="0" i="1">
                <a:solidFill>
                  <a:srgbClr val="6B6B6B"/>
                </a:solidFill>
                <a:latin typeface="Calibri"/>
              </a:rPr>
              <a:t>El propósito no es describir el catálogo: es cambiar una decisión.</a:t>
            </a:r>
          </a:p>
        </p:txBody>
      </p:sp>
      <p:sp>
        <p:nvSpPr>
          <p:cNvPr id="13" name="TextBox 12"/>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4" name="TextBox 13"/>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METODOLOGÍA</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CRISP-DM: la pregunta de negocio primero, los datos después</a:t>
            </a:r>
          </a:p>
        </p:txBody>
      </p:sp>
      <p:graphicFrame>
        <p:nvGraphicFramePr>
          <p:cNvPr id="5" name="Table 4"/>
          <p:cNvGraphicFramePr>
            <a:graphicFrameLocks noGrp="1"/>
          </p:cNvGraphicFramePr>
          <p:nvPr/>
        </p:nvGraphicFramePr>
        <p:xfrm>
          <a:off x="502920" y="1965960"/>
          <a:ext cx="10607040" cy="3328416"/>
        </p:xfrm>
        <a:graphic>
          <a:graphicData uri="http://schemas.openxmlformats.org/drawingml/2006/table">
            <a:tbl>
              <a:tblPr/>
              <a:tblGrid>
                <a:gridCol w="2377440"/>
                <a:gridCol w="8229600"/>
              </a:tblGrid>
              <a:tr h="475488">
                <a:tc>
                  <a:txBody>
                    <a:bodyPr wrap="square"/>
                    <a:lstStyle/>
                    <a:p>
                      <a:pPr algn="l"/>
                      <a:r>
                        <a:rPr sz="950" b="1">
                          <a:solidFill>
                            <a:srgbClr val="FFFFFF"/>
                          </a:solidFill>
                          <a:latin typeface="Calibri"/>
                        </a:rPr>
                        <a:t>FASE</a:t>
                      </a:r>
                    </a:p>
                  </a:txBody>
                  <a:tcPr marL="88900" marR="88900" marT="38100" marB="38100" anchor="ctr">
                    <a:solidFill>
                      <a:srgbClr val="1A1818"/>
                    </a:solidFill>
                  </a:tcPr>
                </a:tc>
                <a:tc>
                  <a:txBody>
                    <a:bodyPr wrap="square"/>
                    <a:lstStyle/>
                    <a:p>
                      <a:pPr algn="l"/>
                      <a:r>
                        <a:rPr sz="950" b="1">
                          <a:solidFill>
                            <a:srgbClr val="FFFFFF"/>
                          </a:solidFill>
                          <a:latin typeface="Calibri"/>
                        </a:rPr>
                        <a:t>QUÉ SE HIZO</a:t>
                      </a:r>
                    </a:p>
                  </a:txBody>
                  <a:tcPr marL="88900" marR="88900" marT="38100" marB="38100" anchor="ctr">
                    <a:solidFill>
                      <a:srgbClr val="1A1818"/>
                    </a:solidFill>
                  </a:tcPr>
                </a:tc>
              </a:tr>
              <a:tr h="475488">
                <a:tc>
                  <a:txBody>
                    <a:bodyPr wrap="square"/>
                    <a:lstStyle/>
                    <a:p>
                      <a:pPr algn="l"/>
                      <a:r>
                        <a:rPr sz="1300" b="1">
                          <a:solidFill>
                            <a:srgbClr val="1A1818"/>
                          </a:solidFill>
                          <a:latin typeface="Calibri"/>
                        </a:rPr>
                        <a:t>1 · Negocio</a:t>
                      </a:r>
                    </a:p>
                  </a:txBody>
                  <a:tcPr marL="88900" marR="88900" marT="38100" marB="38100" anchor="ctr">
                    <a:solidFill>
                      <a:srgbClr val="FFFFFF"/>
                    </a:solidFill>
                  </a:tcPr>
                </a:tc>
                <a:tc>
                  <a:txBody>
                    <a:bodyPr wrap="square"/>
                    <a:lstStyle/>
                    <a:p>
                      <a:pPr algn="l"/>
                      <a:r>
                        <a:rPr sz="1300" b="0">
                          <a:solidFill>
                            <a:srgbClr val="1A1818"/>
                          </a:solidFill>
                          <a:latin typeface="Calibri"/>
                        </a:rPr>
                        <a:t>Problema, audiencia y propósito comunicacional</a:t>
                      </a:r>
                    </a:p>
                  </a:txBody>
                  <a:tcPr marL="88900" marR="88900" marT="38100" marB="38100" anchor="ctr">
                    <a:solidFill>
                      <a:srgbClr val="FFFFFF"/>
                    </a:solidFill>
                  </a:tcPr>
                </a:tc>
              </a:tr>
              <a:tr h="475488">
                <a:tc>
                  <a:txBody>
                    <a:bodyPr wrap="square"/>
                    <a:lstStyle/>
                    <a:p>
                      <a:pPr algn="l"/>
                      <a:r>
                        <a:rPr sz="1300" b="1">
                          <a:solidFill>
                            <a:srgbClr val="1A1818"/>
                          </a:solidFill>
                          <a:latin typeface="Calibri"/>
                        </a:rPr>
                        <a:t>2 · Datos</a:t>
                      </a:r>
                    </a:p>
                  </a:txBody>
                  <a:tcPr marL="88900" marR="88900" marT="38100" marB="38100" anchor="ctr">
                    <a:solidFill>
                      <a:srgbClr val="FAF9F8"/>
                    </a:solidFill>
                  </a:tcPr>
                </a:tc>
                <a:tc>
                  <a:txBody>
                    <a:bodyPr wrap="square"/>
                    <a:lstStyle/>
                    <a:p>
                      <a:pPr algn="l"/>
                      <a:r>
                        <a:rPr sz="1300" b="0">
                          <a:solidFill>
                            <a:srgbClr val="1A1818"/>
                          </a:solidFill>
                          <a:latin typeface="Calibri"/>
                        </a:rPr>
                        <a:t>Perfilado y diagnóstico de calidad de ambas fuentes</a:t>
                      </a:r>
                    </a:p>
                  </a:txBody>
                  <a:tcPr marL="88900" marR="88900" marT="38100" marB="38100" anchor="ctr">
                    <a:solidFill>
                      <a:srgbClr val="FAF9F8"/>
                    </a:solidFill>
                  </a:tcPr>
                </a:tc>
              </a:tr>
              <a:tr h="475488">
                <a:tc>
                  <a:txBody>
                    <a:bodyPr wrap="square"/>
                    <a:lstStyle/>
                    <a:p>
                      <a:pPr algn="l"/>
                      <a:r>
                        <a:rPr sz="1300" b="1">
                          <a:solidFill>
                            <a:srgbClr val="1A1818"/>
                          </a:solidFill>
                          <a:latin typeface="Calibri"/>
                        </a:rPr>
                        <a:t>3 · Preparación</a:t>
                      </a:r>
                    </a:p>
                  </a:txBody>
                  <a:tcPr marL="88900" marR="88900" marT="38100" marB="38100" anchor="ctr">
                    <a:solidFill>
                      <a:srgbClr val="FFFFFF"/>
                    </a:solidFill>
                  </a:tcPr>
                </a:tc>
                <a:tc>
                  <a:txBody>
                    <a:bodyPr wrap="square"/>
                    <a:lstStyle/>
                    <a:p>
                      <a:pPr algn="l"/>
                      <a:r>
                        <a:rPr sz="1300" b="0">
                          <a:solidFill>
                            <a:srgbClr val="1A1818"/>
                          </a:solidFill>
                          <a:latin typeface="Calibri"/>
                        </a:rPr>
                        <a:t>Limpieza, armonización de taxonomías e integración</a:t>
                      </a:r>
                    </a:p>
                  </a:txBody>
                  <a:tcPr marL="88900" marR="88900" marT="38100" marB="38100" anchor="ctr">
                    <a:solidFill>
                      <a:srgbClr val="FFFFFF"/>
                    </a:solidFill>
                  </a:tcPr>
                </a:tc>
              </a:tr>
              <a:tr h="475488">
                <a:tc>
                  <a:txBody>
                    <a:bodyPr wrap="square"/>
                    <a:lstStyle/>
                    <a:p>
                      <a:pPr algn="l"/>
                      <a:r>
                        <a:rPr sz="1300" b="1">
                          <a:solidFill>
                            <a:srgbClr val="1A1818"/>
                          </a:solidFill>
                          <a:latin typeface="Calibri"/>
                        </a:rPr>
                        <a:t>4 · Análisis</a:t>
                      </a:r>
                    </a:p>
                  </a:txBody>
                  <a:tcPr marL="88900" marR="88900" marT="38100" marB="38100" anchor="ctr">
                    <a:solidFill>
                      <a:srgbClr val="FAF9F8"/>
                    </a:solidFill>
                  </a:tcPr>
                </a:tc>
                <a:tc>
                  <a:txBody>
                    <a:bodyPr wrap="square"/>
                    <a:lstStyle/>
                    <a:p>
                      <a:pPr algn="l"/>
                      <a:r>
                        <a:rPr sz="1300" b="0">
                          <a:solidFill>
                            <a:srgbClr val="1A1818"/>
                          </a:solidFill>
                          <a:latin typeface="Calibri"/>
                        </a:rPr>
                        <a:t>Exploración visual y segmentación por cuadrantes</a:t>
                      </a:r>
                    </a:p>
                  </a:txBody>
                  <a:tcPr marL="88900" marR="88900" marT="38100" marB="38100" anchor="ctr">
                    <a:solidFill>
                      <a:srgbClr val="FAF9F8"/>
                    </a:solidFill>
                  </a:tcPr>
                </a:tc>
              </a:tr>
              <a:tr h="475488">
                <a:tc>
                  <a:txBody>
                    <a:bodyPr wrap="square"/>
                    <a:lstStyle/>
                    <a:p>
                      <a:pPr algn="l"/>
                      <a:r>
                        <a:rPr sz="1300" b="1">
                          <a:solidFill>
                            <a:srgbClr val="1A1818"/>
                          </a:solidFill>
                          <a:latin typeface="Calibri"/>
                        </a:rPr>
                        <a:t>5 · Evaluación</a:t>
                      </a:r>
                    </a:p>
                  </a:txBody>
                  <a:tcPr marL="88900" marR="88900" marT="38100" marB="38100" anchor="ctr">
                    <a:solidFill>
                      <a:srgbClr val="FFFFFF"/>
                    </a:solidFill>
                  </a:tcPr>
                </a:tc>
                <a:tc>
                  <a:txBody>
                    <a:bodyPr wrap="square"/>
                    <a:lstStyle/>
                    <a:p>
                      <a:pPr algn="l"/>
                      <a:r>
                        <a:rPr sz="1300" b="0">
                          <a:solidFill>
                            <a:srgbClr val="1A1818"/>
                          </a:solidFill>
                          <a:latin typeface="Calibri"/>
                        </a:rPr>
                        <a:t>Revisión crítica de la validez de los hallazgos</a:t>
                      </a:r>
                    </a:p>
                  </a:txBody>
                  <a:tcPr marL="88900" marR="88900" marT="38100" marB="38100" anchor="ctr">
                    <a:solidFill>
                      <a:srgbClr val="FFFFFF"/>
                    </a:solidFill>
                  </a:tcPr>
                </a:tc>
              </a:tr>
              <a:tr h="475488">
                <a:tc>
                  <a:txBody>
                    <a:bodyPr wrap="square"/>
                    <a:lstStyle/>
                    <a:p>
                      <a:pPr algn="l"/>
                      <a:r>
                        <a:rPr sz="1300" b="1">
                          <a:solidFill>
                            <a:srgbClr val="1A1818"/>
                          </a:solidFill>
                          <a:latin typeface="Calibri"/>
                        </a:rPr>
                        <a:t>6 · Despliegue</a:t>
                      </a:r>
                    </a:p>
                  </a:txBody>
                  <a:tcPr marL="88900" marR="88900" marT="38100" marB="38100" anchor="ctr">
                    <a:solidFill>
                      <a:srgbClr val="FAF9F8"/>
                    </a:solidFill>
                  </a:tcPr>
                </a:tc>
                <a:tc>
                  <a:txBody>
                    <a:bodyPr wrap="square"/>
                    <a:lstStyle/>
                    <a:p>
                      <a:pPr algn="l"/>
                      <a:r>
                        <a:rPr sz="1300" b="0">
                          <a:solidFill>
                            <a:srgbClr val="1A1818"/>
                          </a:solidFill>
                          <a:latin typeface="Calibri"/>
                        </a:rPr>
                        <a:t>Dashboard, narrativa visual e informe ejecutivo</a:t>
                      </a:r>
                    </a:p>
                  </a:txBody>
                  <a:tcPr marL="88900" marR="88900" marT="38100" marB="38100" anchor="ctr">
                    <a:solidFill>
                      <a:srgbClr val="FAF9F8"/>
                    </a:solidFill>
                  </a:tcPr>
                </a:tc>
              </a:tr>
            </a:tbl>
          </a:graphicData>
        </a:graphic>
      </p:graphicFrame>
      <p:sp>
        <p:nvSpPr>
          <p:cNvPr id="6" name="Rectangle 5"/>
          <p:cNvSpPr/>
          <p:nvPr/>
        </p:nvSpPr>
        <p:spPr>
          <a:xfrm>
            <a:off x="0" y="5532120"/>
            <a:ext cx="12191695" cy="777240"/>
          </a:xfrm>
          <a:prstGeom prst="rect">
            <a:avLst/>
          </a:prstGeom>
          <a:solidFill>
            <a:srgbClr val="1A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532120"/>
            <a:ext cx="11185855" cy="777240"/>
          </a:xfrm>
          <a:prstGeom prst="rect">
            <a:avLst/>
          </a:prstGeom>
          <a:noFill/>
        </p:spPr>
        <p:txBody>
          <a:bodyPr wrap="square" anchor="ctr" lIns="0" rIns="0" tIns="0" bIns="0">
            <a:noAutofit/>
          </a:bodyPr>
          <a:lstStyle/>
          <a:p>
            <a:pPr algn="l">
              <a:lnSpc>
                <a:spcPct val="130000"/>
              </a:lnSpc>
            </a:pPr>
            <a:r>
              <a:rPr sz="1450" b="1" i="0">
                <a:solidFill>
                  <a:srgbClr val="FFFFFF"/>
                </a:solidFill>
                <a:latin typeface="Calibri"/>
              </a:rPr>
              <a:t>El método es iterativo y lo usamos así: </a:t>
            </a:r>
            <a:r>
              <a:rPr sz="1450" b="0" i="0">
                <a:solidFill>
                  <a:srgbClr val="FFFFFF"/>
                </a:solidFill>
                <a:latin typeface="Calibri"/>
              </a:rPr>
              <a:t>la fase 4 nos obligó a volver a la fase 3 al descubrir que películas y series usaban taxonomías de género distintas.</a:t>
            </a:r>
          </a:p>
        </p:txBody>
      </p:sp>
      <p:sp>
        <p:nvSpPr>
          <p:cNvPr id="8" name="TextBox 7"/>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9" name="TextBox 8"/>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COMPRENSIÓN DE LOS DATOS</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200" b="1" i="0">
                <a:solidFill>
                  <a:srgbClr val="1A1818"/>
                </a:solidFill>
                <a:latin typeface="Cambria"/>
              </a:rPr>
              <a:t>Antes de analizar: qué nos permiten y qué no nos permiten decir estos datos</a:t>
            </a:r>
          </a:p>
        </p:txBody>
      </p:sp>
      <p:sp>
        <p:nvSpPr>
          <p:cNvPr id="5" name="TextBox 4"/>
          <p:cNvSpPr txBox="1"/>
          <p:nvPr/>
        </p:nvSpPr>
        <p:spPr>
          <a:xfrm>
            <a:off x="502920" y="2103120"/>
            <a:ext cx="5364327" cy="914400"/>
          </a:xfrm>
          <a:prstGeom prst="rect">
            <a:avLst/>
          </a:prstGeom>
          <a:noFill/>
        </p:spPr>
        <p:txBody>
          <a:bodyPr wrap="square" anchor="t" lIns="0" rIns="0" tIns="0" bIns="0">
            <a:noAutofit/>
          </a:bodyPr>
          <a:lstStyle/>
          <a:p>
            <a:pPr algn="l">
              <a:lnSpc>
                <a:spcPct val="100000"/>
              </a:lnSpc>
            </a:pPr>
            <a:r>
              <a:rPr sz="6400" b="1" i="0">
                <a:solidFill>
                  <a:srgbClr val="E50914"/>
                </a:solidFill>
                <a:latin typeface="Cambria"/>
              </a:rPr>
              <a:t>1.000</a:t>
            </a:r>
          </a:p>
        </p:txBody>
      </p:sp>
      <p:sp>
        <p:nvSpPr>
          <p:cNvPr id="6" name="TextBox 5"/>
          <p:cNvSpPr txBox="1"/>
          <p:nvPr/>
        </p:nvSpPr>
        <p:spPr>
          <a:xfrm>
            <a:off x="502920" y="2971800"/>
            <a:ext cx="5364327" cy="822960"/>
          </a:xfrm>
          <a:prstGeom prst="rect">
            <a:avLst/>
          </a:prstGeom>
          <a:noFill/>
        </p:spPr>
        <p:txBody>
          <a:bodyPr wrap="square" anchor="t" lIns="0" rIns="0" tIns="0" bIns="0">
            <a:noAutofit/>
          </a:bodyPr>
          <a:lstStyle/>
          <a:p>
            <a:pPr algn="l">
              <a:lnSpc>
                <a:spcPct val="120000"/>
              </a:lnSpc>
            </a:pPr>
            <a:r>
              <a:rPr sz="1250" b="0" i="0">
                <a:solidFill>
                  <a:srgbClr val="6B6B6B"/>
                </a:solidFill>
                <a:latin typeface="Calibri"/>
              </a:rPr>
              <a:t>títulos EXACTOS por cada año, en ambas fuentes. No es el catálogo: es una muestra estratificada.</a:t>
            </a:r>
          </a:p>
        </p:txBody>
      </p:sp>
      <p:sp>
        <p:nvSpPr>
          <p:cNvPr id="7" name="TextBox 6"/>
          <p:cNvSpPr txBox="1"/>
          <p:nvPr/>
        </p:nvSpPr>
        <p:spPr>
          <a:xfrm>
            <a:off x="502920" y="3977639"/>
            <a:ext cx="5364327" cy="1188720"/>
          </a:xfrm>
          <a:prstGeom prst="rect">
            <a:avLst/>
          </a:prstGeom>
          <a:noFill/>
        </p:spPr>
        <p:txBody>
          <a:bodyPr wrap="square" anchor="t" lIns="0" rIns="0" tIns="0" bIns="0">
            <a:noAutofit/>
          </a:bodyPr>
          <a:lstStyle/>
          <a:p>
            <a:pPr algn="l">
              <a:lnSpc>
                <a:spcPct val="130000"/>
              </a:lnSpc>
            </a:pPr>
            <a:r>
              <a:rPr sz="1300" b="1" i="0">
                <a:solidFill>
                  <a:srgbClr val="1A1818"/>
                </a:solidFill>
                <a:latin typeface="Calibri"/>
              </a:rPr>
              <a:t>Consecuencia: </a:t>
            </a:r>
            <a:r>
              <a:rPr sz="1300" b="0" i="0">
                <a:solidFill>
                  <a:srgbClr val="1A1818"/>
                </a:solidFill>
                <a:latin typeface="Calibri"/>
              </a:rPr>
              <a:t>el volumen anual es constante por diseño. Este análisis no puede sostener ninguna conclusión sobre crecimiento del catálogo.</a:t>
            </a:r>
          </a:p>
        </p:txBody>
      </p:sp>
      <p:graphicFrame>
        <p:nvGraphicFramePr>
          <p:cNvPr id="8" name="Table 7"/>
          <p:cNvGraphicFramePr>
            <a:graphicFrameLocks noGrp="1"/>
          </p:cNvGraphicFramePr>
          <p:nvPr/>
        </p:nvGraphicFramePr>
        <p:xfrm>
          <a:off x="6324447" y="2103120"/>
          <a:ext cx="5364326" cy="3200400"/>
        </p:xfrm>
        <a:graphic>
          <a:graphicData uri="http://schemas.openxmlformats.org/drawingml/2006/table">
            <a:tbl>
              <a:tblPr/>
              <a:tblGrid>
                <a:gridCol w="3540455"/>
                <a:gridCol w="1823871"/>
              </a:tblGrid>
              <a:tr h="457200">
                <a:tc>
                  <a:txBody>
                    <a:bodyPr wrap="square"/>
                    <a:lstStyle/>
                    <a:p>
                      <a:pPr algn="l"/>
                      <a:r>
                        <a:rPr sz="950" b="1">
                          <a:solidFill>
                            <a:srgbClr val="FFFFFF"/>
                          </a:solidFill>
                          <a:latin typeface="Calibri"/>
                        </a:rPr>
                        <a:t>HALLAZGO DE CALIDAD</a:t>
                      </a:r>
                    </a:p>
                  </a:txBody>
                  <a:tcPr marL="88900" marR="88900" marT="38100" marB="38100" anchor="ctr">
                    <a:solidFill>
                      <a:srgbClr val="1A1818"/>
                    </a:solidFill>
                  </a:tcPr>
                </a:tc>
                <a:tc>
                  <a:txBody>
                    <a:bodyPr wrap="square"/>
                    <a:lstStyle/>
                    <a:p>
                      <a:pPr algn="l"/>
                      <a:r>
                        <a:rPr sz="950" b="1">
                          <a:solidFill>
                            <a:srgbClr val="FFFFFF"/>
                          </a:solidFill>
                          <a:latin typeface="Calibri"/>
                        </a:rPr>
                        <a:t>TRATAMIENTO</a:t>
                      </a:r>
                    </a:p>
                  </a:txBody>
                  <a:tcPr marL="88900" marR="88900" marT="38100" marB="38100" anchor="ctr">
                    <a:solidFill>
                      <a:srgbClr val="1A1818"/>
                    </a:solidFill>
                  </a:tcPr>
                </a:tc>
              </a:tr>
              <a:tr h="457200">
                <a:tc>
                  <a:txBody>
                    <a:bodyPr wrap="square"/>
                    <a:lstStyle/>
                    <a:p>
                      <a:pPr algn="l"/>
                      <a:r>
                        <a:rPr sz="1050" b="0">
                          <a:solidFill>
                            <a:srgbClr val="1A1818"/>
                          </a:solidFill>
                          <a:latin typeface="Calibri"/>
                        </a:rPr>
                        <a:t>4.560 títulos sin votos figuraban con calificación 0,0</a:t>
                      </a:r>
                    </a:p>
                  </a:txBody>
                  <a:tcPr marL="88900" marR="88900" marT="38100" marB="38100" anchor="ctr">
                    <a:solidFill>
                      <a:srgbClr val="FFFFFF"/>
                    </a:solidFill>
                  </a:tcPr>
                </a:tc>
                <a:tc>
                  <a:txBody>
                    <a:bodyPr wrap="square"/>
                    <a:lstStyle/>
                    <a:p>
                      <a:pPr algn="l"/>
                      <a:r>
                        <a:rPr sz="1050" b="0">
                          <a:solidFill>
                            <a:srgbClr val="1A1818"/>
                          </a:solidFill>
                          <a:latin typeface="Calibri"/>
                        </a:rPr>
                        <a:t>Convertidos a dato ausente</a:t>
                      </a:r>
                    </a:p>
                  </a:txBody>
                  <a:tcPr marL="88900" marR="88900" marT="38100" marB="38100" anchor="ctr">
                    <a:solidFill>
                      <a:srgbClr val="FFFFFF"/>
                    </a:solidFill>
                  </a:tcPr>
                </a:tc>
              </a:tr>
              <a:tr h="457200">
                <a:tc>
                  <a:txBody>
                    <a:bodyPr wrap="square"/>
                    <a:lstStyle/>
                    <a:p>
                      <a:pPr algn="l"/>
                      <a:r>
                        <a:rPr sz="1050" b="0">
                          <a:solidFill>
                            <a:srgbClr val="1A1818"/>
                          </a:solidFill>
                          <a:latin typeface="Calibri"/>
                        </a:rPr>
                        <a:t>69,7% de presupuestos en cero</a:t>
                      </a:r>
                    </a:p>
                  </a:txBody>
                  <a:tcPr marL="88900" marR="88900" marT="38100" marB="38100" anchor="ctr">
                    <a:solidFill>
                      <a:srgbClr val="FAF9F8"/>
                    </a:solidFill>
                  </a:tcPr>
                </a:tc>
                <a:tc>
                  <a:txBody>
                    <a:bodyPr wrap="square"/>
                    <a:lstStyle/>
                    <a:p>
                      <a:pPr algn="l"/>
                      <a:r>
                        <a:rPr sz="1050" b="0">
                          <a:solidFill>
                            <a:srgbClr val="1A1818"/>
                          </a:solidFill>
                          <a:latin typeface="Calibri"/>
                        </a:rPr>
                        <a:t>Tratados como faltantes</a:t>
                      </a:r>
                    </a:p>
                  </a:txBody>
                  <a:tcPr marL="88900" marR="88900" marT="38100" marB="38100" anchor="ctr">
                    <a:solidFill>
                      <a:srgbClr val="FAF9F8"/>
                    </a:solidFill>
                  </a:tcPr>
                </a:tc>
              </a:tr>
              <a:tr h="457200">
                <a:tc>
                  <a:txBody>
                    <a:bodyPr wrap="square"/>
                    <a:lstStyle/>
                    <a:p>
                      <a:pPr algn="l"/>
                      <a:r>
                        <a:rPr sz="1050" b="0">
                          <a:solidFill>
                            <a:srgbClr val="1A1818"/>
                          </a:solidFill>
                          <a:latin typeface="Calibri"/>
                        </a:rPr>
                        <a:t>“rating” idéntica a “vote_average”</a:t>
                      </a:r>
                    </a:p>
                  </a:txBody>
                  <a:tcPr marL="88900" marR="88900" marT="38100" marB="38100" anchor="ctr">
                    <a:solidFill>
                      <a:srgbClr val="FFFFFF"/>
                    </a:solidFill>
                  </a:tcPr>
                </a:tc>
                <a:tc>
                  <a:txBody>
                    <a:bodyPr wrap="square"/>
                    <a:lstStyle/>
                    <a:p>
                      <a:pPr algn="l"/>
                      <a:r>
                        <a:rPr sz="1050" b="0">
                          <a:solidFill>
                            <a:srgbClr val="1A1818"/>
                          </a:solidFill>
                          <a:latin typeface="Calibri"/>
                        </a:rPr>
                        <a:t>Eliminada</a:t>
                      </a:r>
                    </a:p>
                  </a:txBody>
                  <a:tcPr marL="88900" marR="88900" marT="38100" marB="38100" anchor="ctr">
                    <a:solidFill>
                      <a:srgbClr val="FFFFFF"/>
                    </a:solidFill>
                  </a:tcPr>
                </a:tc>
              </a:tr>
              <a:tr h="457200">
                <a:tc>
                  <a:txBody>
                    <a:bodyPr wrap="square"/>
                    <a:lstStyle/>
                    <a:p>
                      <a:pPr algn="l"/>
                      <a:r>
                        <a:rPr sz="1050" b="0">
                          <a:solidFill>
                            <a:srgbClr val="1A1818"/>
                          </a:solidFill>
                          <a:latin typeface="Calibri"/>
                        </a:rPr>
                        <a:t>“duration” nula o constante</a:t>
                      </a:r>
                    </a:p>
                  </a:txBody>
                  <a:tcPr marL="88900" marR="88900" marT="38100" marB="38100" anchor="ctr">
                    <a:solidFill>
                      <a:srgbClr val="FAF9F8"/>
                    </a:solidFill>
                  </a:tcPr>
                </a:tc>
                <a:tc>
                  <a:txBody>
                    <a:bodyPr wrap="square"/>
                    <a:lstStyle/>
                    <a:p>
                      <a:pPr algn="l"/>
                      <a:r>
                        <a:rPr sz="1050" b="0">
                          <a:solidFill>
                            <a:srgbClr val="1A1818"/>
                          </a:solidFill>
                          <a:latin typeface="Calibri"/>
                        </a:rPr>
                        <a:t>Eliminada</a:t>
                      </a:r>
                    </a:p>
                  </a:txBody>
                  <a:tcPr marL="88900" marR="88900" marT="38100" marB="38100" anchor="ctr">
                    <a:solidFill>
                      <a:srgbClr val="FAF9F8"/>
                    </a:solidFill>
                  </a:tcPr>
                </a:tc>
              </a:tr>
              <a:tr h="457200">
                <a:tc>
                  <a:txBody>
                    <a:bodyPr wrap="square"/>
                    <a:lstStyle/>
                    <a:p>
                      <a:pPr algn="l"/>
                      <a:r>
                        <a:rPr sz="1050" b="0">
                          <a:solidFill>
                            <a:srgbClr val="1A1818"/>
                          </a:solidFill>
                          <a:latin typeface="Calibri"/>
                        </a:rPr>
                        <a:t>Taxonomías de género divergentes</a:t>
                      </a:r>
                    </a:p>
                  </a:txBody>
                  <a:tcPr marL="88900" marR="88900" marT="38100" marB="38100" anchor="ctr">
                    <a:solidFill>
                      <a:srgbClr val="FFFFFF"/>
                    </a:solidFill>
                  </a:tcPr>
                </a:tc>
                <a:tc>
                  <a:txBody>
                    <a:bodyPr wrap="square"/>
                    <a:lstStyle/>
                    <a:p>
                      <a:pPr algn="l"/>
                      <a:r>
                        <a:rPr sz="1050" b="0">
                          <a:solidFill>
                            <a:srgbClr val="1A1818"/>
                          </a:solidFill>
                          <a:latin typeface="Calibri"/>
                        </a:rPr>
                        <a:t>Armonizadas</a:t>
                      </a:r>
                    </a:p>
                  </a:txBody>
                  <a:tcPr marL="88900" marR="88900" marT="38100" marB="38100" anchor="ctr">
                    <a:solidFill>
                      <a:srgbClr val="FFFFFF"/>
                    </a:solidFill>
                  </a:tcPr>
                </a:tc>
              </a:tr>
              <a:tr h="457200">
                <a:tc>
                  <a:txBody>
                    <a:bodyPr wrap="square"/>
                    <a:lstStyle/>
                    <a:p>
                      <a:pPr algn="l"/>
                      <a:r>
                        <a:rPr sz="1050" b="0">
                          <a:solidFill>
                            <a:srgbClr val="1A1818"/>
                          </a:solidFill>
                          <a:latin typeface="Calibri"/>
                        </a:rPr>
                        <a:t>9 identificadores duplicados</a:t>
                      </a:r>
                    </a:p>
                  </a:txBody>
                  <a:tcPr marL="88900" marR="88900" marT="38100" marB="38100" anchor="ctr">
                    <a:solidFill>
                      <a:srgbClr val="FAF9F8"/>
                    </a:solidFill>
                  </a:tcPr>
                </a:tc>
                <a:tc>
                  <a:txBody>
                    <a:bodyPr wrap="square"/>
                    <a:lstStyle/>
                    <a:p>
                      <a:pPr algn="l"/>
                      <a:r>
                        <a:rPr sz="1050" b="0">
                          <a:solidFill>
                            <a:srgbClr val="1A1818"/>
                          </a:solidFill>
                          <a:latin typeface="Calibri"/>
                        </a:rPr>
                        <a:t>Deduplicados</a:t>
                      </a:r>
                    </a:p>
                  </a:txBody>
                  <a:tcPr marL="88900" marR="88900" marT="38100" marB="38100" anchor="ctr">
                    <a:solidFill>
                      <a:srgbClr val="FAF9F8"/>
                    </a:solidFill>
                  </a:tcPr>
                </a:tc>
              </a:tr>
            </a:tbl>
          </a:graphicData>
        </a:graphic>
      </p:graphicFrame>
      <p:sp>
        <p:nvSpPr>
          <p:cNvPr id="9" name="TextBox 8"/>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0" name="TextBox 9"/>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CONTEXTO · 1 DE 2</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El catálogo está concentrado en géneros masivos</a:t>
            </a:r>
          </a:p>
        </p:txBody>
      </p:sp>
      <p:pic>
        <p:nvPicPr>
          <p:cNvPr id="5" name="Picture 4" descr="01_composicion_generos.png"/>
          <p:cNvPicPr>
            <a:picLocks noChangeAspect="1"/>
          </p:cNvPicPr>
          <p:nvPr/>
        </p:nvPicPr>
        <p:blipFill>
          <a:blip r:embed="rId2"/>
          <a:stretch>
            <a:fillRect/>
          </a:stretch>
        </p:blipFill>
        <p:spPr>
          <a:xfrm>
            <a:off x="2766884" y="1481328"/>
            <a:ext cx="6657927" cy="4782312"/>
          </a:xfrm>
          <a:prstGeom prst="rect">
            <a:avLst/>
          </a:prstGeom>
        </p:spPr>
      </p:pic>
      <p:sp>
        <p:nvSpPr>
          <p:cNvPr id="6" name="TextBox 5"/>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7" name="TextBox 6"/>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CONTEXTO · 2 DE 2</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Y su calidad mejora año a año. No hay un problema evidente.</a:t>
            </a:r>
          </a:p>
        </p:txBody>
      </p:sp>
      <p:pic>
        <p:nvPicPr>
          <p:cNvPr id="5" name="Picture 4" descr="06_evolucion_temporal.png"/>
          <p:cNvPicPr>
            <a:picLocks noChangeAspect="1"/>
          </p:cNvPicPr>
          <p:nvPr/>
        </p:nvPicPr>
        <p:blipFill>
          <a:blip r:embed="rId2"/>
          <a:stretch>
            <a:fillRect/>
          </a:stretch>
        </p:blipFill>
        <p:spPr>
          <a:xfrm>
            <a:off x="3174158" y="1481328"/>
            <a:ext cx="5843378" cy="4782312"/>
          </a:xfrm>
          <a:prstGeom prst="rect">
            <a:avLst/>
          </a:prstGeom>
        </p:spPr>
      </p:pic>
      <p:sp>
        <p:nvSpPr>
          <p:cNvPr id="6" name="TextBox 5"/>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7" name="TextBox 6"/>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NARRATIVA VISUAL (DATA STORYTELLING) · TENSIÓN</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300" b="1" i="0">
                <a:solidFill>
                  <a:srgbClr val="1A1818"/>
                </a:solidFill>
                <a:latin typeface="Cambria"/>
              </a:rPr>
              <a:t>Pero la atención no se reparte: se concentra en una minoría</a:t>
            </a:r>
          </a:p>
        </p:txBody>
      </p:sp>
      <p:sp>
        <p:nvSpPr>
          <p:cNvPr id="5" name="TextBox 4"/>
          <p:cNvSpPr txBox="1"/>
          <p:nvPr/>
        </p:nvSpPr>
        <p:spPr>
          <a:xfrm>
            <a:off x="502920" y="2148840"/>
            <a:ext cx="3383280" cy="914400"/>
          </a:xfrm>
          <a:prstGeom prst="rect">
            <a:avLst/>
          </a:prstGeom>
          <a:noFill/>
        </p:spPr>
        <p:txBody>
          <a:bodyPr wrap="square" anchor="t" lIns="0" rIns="0" tIns="0" bIns="0">
            <a:noAutofit/>
          </a:bodyPr>
          <a:lstStyle/>
          <a:p>
            <a:pPr algn="l">
              <a:lnSpc>
                <a:spcPct val="100000"/>
              </a:lnSpc>
            </a:pPr>
            <a:r>
              <a:rPr sz="5800" b="1" i="0">
                <a:solidFill>
                  <a:srgbClr val="E50914"/>
                </a:solidFill>
                <a:latin typeface="Cambria"/>
              </a:rPr>
              <a:t>291×</a:t>
            </a:r>
          </a:p>
        </p:txBody>
      </p:sp>
      <p:sp>
        <p:nvSpPr>
          <p:cNvPr id="6" name="TextBox 5"/>
          <p:cNvSpPr txBox="1"/>
          <p:nvPr/>
        </p:nvSpPr>
        <p:spPr>
          <a:xfrm>
            <a:off x="502920" y="3017520"/>
            <a:ext cx="3383280" cy="822960"/>
          </a:xfrm>
          <a:prstGeom prst="rect">
            <a:avLst/>
          </a:prstGeom>
          <a:noFill/>
        </p:spPr>
        <p:txBody>
          <a:bodyPr wrap="square" anchor="t" lIns="0" rIns="0" tIns="0" bIns="0">
            <a:noAutofit/>
          </a:bodyPr>
          <a:lstStyle/>
          <a:p>
            <a:pPr algn="l">
              <a:lnSpc>
                <a:spcPct val="120000"/>
              </a:lnSpc>
            </a:pPr>
            <a:r>
              <a:rPr sz="1250" b="0" i="0">
                <a:solidFill>
                  <a:srgbClr val="6B6B6B"/>
                </a:solidFill>
                <a:latin typeface="Calibri"/>
              </a:rPr>
              <a:t>El título más popular supera 291 veces al título mediano.</a:t>
            </a:r>
          </a:p>
        </p:txBody>
      </p:sp>
      <p:sp>
        <p:nvSpPr>
          <p:cNvPr id="7" name="TextBox 6"/>
          <p:cNvSpPr txBox="1"/>
          <p:nvPr/>
        </p:nvSpPr>
        <p:spPr>
          <a:xfrm>
            <a:off x="502920" y="3886200"/>
            <a:ext cx="3383280" cy="1463040"/>
          </a:xfrm>
          <a:prstGeom prst="rect">
            <a:avLst/>
          </a:prstGeom>
          <a:noFill/>
        </p:spPr>
        <p:txBody>
          <a:bodyPr wrap="square" anchor="t" lIns="0" rIns="0" tIns="0" bIns="0">
            <a:noAutofit/>
          </a:bodyPr>
          <a:lstStyle/>
          <a:p>
            <a:pPr algn="l">
              <a:lnSpc>
                <a:spcPct val="125000"/>
              </a:lnSpc>
              <a:spcAft>
                <a:spcPts val="800"/>
              </a:spcAft>
            </a:pPr>
            <a:r>
              <a:rPr sz="1250" b="0" i="0">
                <a:solidFill>
                  <a:srgbClr val="1A1818"/>
                </a:solidFill>
                <a:latin typeface="Calibri"/>
              </a:rPr>
              <a:t>Solo </a:t>
            </a:r>
            <a:r>
              <a:rPr sz="1250" b="1" i="0">
                <a:solidFill>
                  <a:srgbClr val="1A1818"/>
                </a:solidFill>
                <a:latin typeface="Calibri"/>
              </a:rPr>
              <a:t>320 títulos</a:t>
            </a:r>
            <a:r>
              <a:rPr sz="1250" b="0" i="0">
                <a:solidFill>
                  <a:srgbClr val="1A1818"/>
                </a:solidFill>
                <a:latin typeface="Calibri"/>
              </a:rPr>
              <a:t> superan el percentil 99.</a:t>
            </a:r>
          </a:p>
          <a:p>
            <a:pPr algn="l">
              <a:lnSpc>
                <a:spcPct val="125000"/>
              </a:lnSpc>
            </a:pPr>
            <a:r>
              <a:rPr sz="1250" b="0" i="0">
                <a:solidFill>
                  <a:srgbClr val="1A1818"/>
                </a:solidFill>
                <a:latin typeface="Calibri"/>
              </a:rPr>
              <a:t>La mayoría del catálogo vive con exposición marginal.</a:t>
            </a:r>
          </a:p>
        </p:txBody>
      </p:sp>
      <p:pic>
        <p:nvPicPr>
          <p:cNvPr id="8" name="Picture 7" descr="03_distribucion_popularidad.png"/>
          <p:cNvPicPr>
            <a:picLocks noChangeAspect="1"/>
          </p:cNvPicPr>
          <p:nvPr/>
        </p:nvPicPr>
        <p:blipFill>
          <a:blip r:embed="rId2"/>
          <a:stretch>
            <a:fillRect/>
          </a:stretch>
        </p:blipFill>
        <p:spPr>
          <a:xfrm>
            <a:off x="4251960" y="1572438"/>
            <a:ext cx="7436815" cy="4600091"/>
          </a:xfrm>
          <a:prstGeom prst="rect">
            <a:avLst/>
          </a:prstGeom>
        </p:spPr>
      </p:pic>
      <p:sp>
        <p:nvSpPr>
          <p:cNvPr id="9" name="TextBox 8"/>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0" name="TextBox 9"/>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EL GIRO · HALLAZGO CENTRAL</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Lo más popular no es lo mejor evaluado</a:t>
            </a:r>
          </a:p>
        </p:txBody>
      </p:sp>
      <p:pic>
        <p:nvPicPr>
          <p:cNvPr id="5" name="Picture 4" descr="04_popularidad_vs_calidad.png"/>
          <p:cNvPicPr>
            <a:picLocks noChangeAspect="1"/>
          </p:cNvPicPr>
          <p:nvPr/>
        </p:nvPicPr>
        <p:blipFill>
          <a:blip r:embed="rId2"/>
          <a:stretch>
            <a:fillRect/>
          </a:stretch>
        </p:blipFill>
        <p:spPr>
          <a:xfrm>
            <a:off x="2407000" y="1691640"/>
            <a:ext cx="7377695" cy="3977639"/>
          </a:xfrm>
          <a:prstGeom prst="rect">
            <a:avLst/>
          </a:prstGeom>
        </p:spPr>
      </p:pic>
      <p:sp>
        <p:nvSpPr>
          <p:cNvPr id="6" name="Rectangle 5"/>
          <p:cNvSpPr/>
          <p:nvPr/>
        </p:nvSpPr>
        <p:spPr>
          <a:xfrm>
            <a:off x="0" y="5742432"/>
            <a:ext cx="12191695" cy="621792"/>
          </a:xfrm>
          <a:prstGeom prst="rect">
            <a:avLst/>
          </a:prstGeom>
          <a:solidFill>
            <a:srgbClr val="1A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5742432"/>
            <a:ext cx="11185855" cy="621792"/>
          </a:xfrm>
          <a:prstGeom prst="rect">
            <a:avLst/>
          </a:prstGeom>
          <a:noFill/>
        </p:spPr>
        <p:txBody>
          <a:bodyPr wrap="square" anchor="ctr" lIns="0" rIns="0" tIns="0" bIns="0">
            <a:noAutofit/>
          </a:bodyPr>
          <a:lstStyle/>
          <a:p>
            <a:pPr algn="l">
              <a:lnSpc>
                <a:spcPct val="130000"/>
              </a:lnSpc>
            </a:pPr>
            <a:r>
              <a:rPr sz="1450" b="0" i="0">
                <a:solidFill>
                  <a:srgbClr val="FFFFFF"/>
                </a:solidFill>
                <a:latin typeface="Calibri"/>
              </a:rPr>
              <a:t>Correlación de </a:t>
            </a:r>
            <a:r>
              <a:rPr sz="1450" b="1" i="0">
                <a:solidFill>
                  <a:srgbClr val="FFFFFF"/>
                </a:solidFill>
                <a:latin typeface="Calibri"/>
              </a:rPr>
              <a:t>0,09</a:t>
            </a:r>
            <a:r>
              <a:rPr sz="1450" b="0" i="0">
                <a:solidFill>
                  <a:srgbClr val="FFFFFF"/>
                </a:solidFill>
                <a:latin typeface="Calibri"/>
              </a:rPr>
              <a:t> en películas y </a:t>
            </a:r>
            <a:r>
              <a:rPr sz="1450" b="1" i="0">
                <a:solidFill>
                  <a:srgbClr val="FFFFFF"/>
                </a:solidFill>
                <a:latin typeface="Calibri"/>
              </a:rPr>
              <a:t>0,01</a:t>
            </a:r>
            <a:r>
              <a:rPr sz="1450" b="0" i="0">
                <a:solidFill>
                  <a:srgbClr val="FFFFFF"/>
                </a:solidFill>
                <a:latin typeface="Calibri"/>
              </a:rPr>
              <a:t> en series. Saber cuán popular es un título </a:t>
            </a:r>
            <a:r>
              <a:rPr sz="1450" b="1" i="0">
                <a:solidFill>
                  <a:srgbClr val="FFFFFF"/>
                </a:solidFill>
                <a:latin typeface="Calibri"/>
              </a:rPr>
              <a:t>no permite anticipar</a:t>
            </a:r>
            <a:r>
              <a:rPr sz="1450" b="0" i="0">
                <a:solidFill>
                  <a:srgbClr val="FFFFFF"/>
                </a:solidFill>
                <a:latin typeface="Calibri"/>
              </a:rPr>
              <a:t> cómo será calificado.</a:t>
            </a:r>
          </a:p>
        </p:txBody>
      </p:sp>
      <p:sp>
        <p:nvSpPr>
          <p:cNvPr id="8" name="TextBox 7"/>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9" name="TextBox 8"/>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CONSECUENCIA OPERATIVA</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Ese hallazgo divide el catálogo en cuatro decisiones distintas</a:t>
            </a:r>
          </a:p>
        </p:txBody>
      </p:sp>
      <p:sp>
        <p:nvSpPr>
          <p:cNvPr id="5" name="Rectangle 4"/>
          <p:cNvSpPr/>
          <p:nvPr/>
        </p:nvSpPr>
        <p:spPr>
          <a:xfrm>
            <a:off x="502920" y="2103120"/>
            <a:ext cx="5432907" cy="205740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2231136"/>
            <a:ext cx="5103723"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Calidad sin visibilidad</a:t>
            </a:r>
          </a:p>
        </p:txBody>
      </p:sp>
      <p:sp>
        <p:nvSpPr>
          <p:cNvPr id="7" name="TextBox 6"/>
          <p:cNvSpPr txBox="1"/>
          <p:nvPr/>
        </p:nvSpPr>
        <p:spPr>
          <a:xfrm>
            <a:off x="667512" y="2523744"/>
            <a:ext cx="5103723" cy="457200"/>
          </a:xfrm>
          <a:prstGeom prst="rect">
            <a:avLst/>
          </a:prstGeom>
          <a:noFill/>
        </p:spPr>
        <p:txBody>
          <a:bodyPr wrap="square" anchor="t" lIns="0" rIns="0" tIns="0" bIns="0">
            <a:noAutofit/>
          </a:bodyPr>
          <a:lstStyle/>
          <a:p>
            <a:pPr algn="l">
              <a:lnSpc>
                <a:spcPct val="100000"/>
              </a:lnSpc>
            </a:pPr>
            <a:r>
              <a:rPr sz="2800" b="1" i="0">
                <a:solidFill>
                  <a:srgbClr val="009E73"/>
                </a:solidFill>
                <a:latin typeface="Cambria"/>
              </a:rPr>
              <a:t>3.222</a:t>
            </a:r>
          </a:p>
        </p:txBody>
      </p:sp>
      <p:sp>
        <p:nvSpPr>
          <p:cNvPr id="8" name="TextBox 7"/>
          <p:cNvSpPr txBox="1"/>
          <p:nvPr/>
        </p:nvSpPr>
        <p:spPr>
          <a:xfrm>
            <a:off x="667512" y="3035808"/>
            <a:ext cx="5103723" cy="1014985"/>
          </a:xfrm>
          <a:prstGeom prst="rect">
            <a:avLst/>
          </a:prstGeom>
          <a:noFill/>
        </p:spPr>
        <p:txBody>
          <a:bodyPr wrap="square" anchor="t" lIns="0" rIns="0" tIns="0" bIns="0">
            <a:noAutofit/>
          </a:bodyPr>
          <a:lstStyle/>
          <a:p>
            <a:pPr algn="l">
              <a:lnSpc>
                <a:spcPct val="125000"/>
              </a:lnSpc>
            </a:pPr>
            <a:r>
              <a:rPr sz="1100" b="1" i="0">
                <a:solidFill>
                  <a:srgbClr val="1A1818"/>
                </a:solidFill>
                <a:latin typeface="Calibri"/>
              </a:rPr>
              <a:t>Promover. </a:t>
            </a:r>
            <a:r>
              <a:rPr sz="1100" b="0" i="0">
                <a:solidFill>
                  <a:srgbClr val="6B6B6B"/>
                </a:solidFill>
                <a:latin typeface="Calibri"/>
              </a:rPr>
              <a:t>Máxima prioridad: contenido ya pagado que la audiencia valora, pero que no está encontrando. Costo marginal cero.</a:t>
            </a:r>
          </a:p>
        </p:txBody>
      </p:sp>
      <p:sp>
        <p:nvSpPr>
          <p:cNvPr id="9" name="Rectangle 8"/>
          <p:cNvSpPr/>
          <p:nvPr/>
        </p:nvSpPr>
        <p:spPr>
          <a:xfrm>
            <a:off x="6255867" y="2103120"/>
            <a:ext cx="5432907" cy="205740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0459" y="2231136"/>
            <a:ext cx="5103723"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Éxitos consolidados</a:t>
            </a:r>
          </a:p>
        </p:txBody>
      </p:sp>
      <p:sp>
        <p:nvSpPr>
          <p:cNvPr id="11" name="TextBox 10"/>
          <p:cNvSpPr txBox="1"/>
          <p:nvPr/>
        </p:nvSpPr>
        <p:spPr>
          <a:xfrm>
            <a:off x="6420459" y="2523744"/>
            <a:ext cx="5103723" cy="457200"/>
          </a:xfrm>
          <a:prstGeom prst="rect">
            <a:avLst/>
          </a:prstGeom>
          <a:noFill/>
        </p:spPr>
        <p:txBody>
          <a:bodyPr wrap="square" anchor="t" lIns="0" rIns="0" tIns="0" bIns="0">
            <a:noAutofit/>
          </a:bodyPr>
          <a:lstStyle/>
          <a:p>
            <a:pPr algn="l">
              <a:lnSpc>
                <a:spcPct val="100000"/>
              </a:lnSpc>
            </a:pPr>
            <a:r>
              <a:rPr sz="2800" b="1" i="0">
                <a:solidFill>
                  <a:srgbClr val="E50914"/>
                </a:solidFill>
                <a:latin typeface="Cambria"/>
              </a:rPr>
              <a:t>4.438</a:t>
            </a:r>
          </a:p>
        </p:txBody>
      </p:sp>
      <p:sp>
        <p:nvSpPr>
          <p:cNvPr id="12" name="TextBox 11"/>
          <p:cNvSpPr txBox="1"/>
          <p:nvPr/>
        </p:nvSpPr>
        <p:spPr>
          <a:xfrm>
            <a:off x="6420459" y="3035808"/>
            <a:ext cx="5103723" cy="1014985"/>
          </a:xfrm>
          <a:prstGeom prst="rect">
            <a:avLst/>
          </a:prstGeom>
          <a:noFill/>
        </p:spPr>
        <p:txBody>
          <a:bodyPr wrap="square" anchor="t" lIns="0" rIns="0" tIns="0" bIns="0">
            <a:noAutofit/>
          </a:bodyPr>
          <a:lstStyle/>
          <a:p>
            <a:pPr algn="l">
              <a:lnSpc>
                <a:spcPct val="125000"/>
              </a:lnSpc>
            </a:pPr>
            <a:r>
              <a:rPr sz="1100" b="1" i="0">
                <a:solidFill>
                  <a:srgbClr val="1A1818"/>
                </a:solidFill>
                <a:latin typeface="Calibri"/>
              </a:rPr>
              <a:t>Proteger. </a:t>
            </a:r>
            <a:r>
              <a:rPr sz="1100" b="0" i="0">
                <a:solidFill>
                  <a:srgbClr val="6B6B6B"/>
                </a:solidFill>
                <a:latin typeface="Calibri"/>
              </a:rPr>
              <a:t>Asegurar renovación de derechos y continuidad.</a:t>
            </a:r>
          </a:p>
        </p:txBody>
      </p:sp>
      <p:sp>
        <p:nvSpPr>
          <p:cNvPr id="13" name="Rectangle 12"/>
          <p:cNvSpPr/>
          <p:nvPr/>
        </p:nvSpPr>
        <p:spPr>
          <a:xfrm>
            <a:off x="502920" y="4434840"/>
            <a:ext cx="5432907" cy="205740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562856"/>
            <a:ext cx="5103723"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Populares mal evaluados</a:t>
            </a:r>
          </a:p>
        </p:txBody>
      </p:sp>
      <p:sp>
        <p:nvSpPr>
          <p:cNvPr id="15" name="TextBox 14"/>
          <p:cNvSpPr txBox="1"/>
          <p:nvPr/>
        </p:nvSpPr>
        <p:spPr>
          <a:xfrm>
            <a:off x="667512" y="4855464"/>
            <a:ext cx="5103723" cy="457200"/>
          </a:xfrm>
          <a:prstGeom prst="rect">
            <a:avLst/>
          </a:prstGeom>
          <a:noFill/>
        </p:spPr>
        <p:txBody>
          <a:bodyPr wrap="square" anchor="t" lIns="0" rIns="0" tIns="0" bIns="0">
            <a:noAutofit/>
          </a:bodyPr>
          <a:lstStyle/>
          <a:p>
            <a:pPr algn="l">
              <a:lnSpc>
                <a:spcPct val="100000"/>
              </a:lnSpc>
            </a:pPr>
            <a:r>
              <a:rPr sz="2800" b="1" i="0">
                <a:solidFill>
                  <a:srgbClr val="E69F00"/>
                </a:solidFill>
                <a:latin typeface="Cambria"/>
              </a:rPr>
              <a:t>3.262</a:t>
            </a:r>
          </a:p>
        </p:txBody>
      </p:sp>
      <p:sp>
        <p:nvSpPr>
          <p:cNvPr id="16" name="TextBox 15"/>
          <p:cNvSpPr txBox="1"/>
          <p:nvPr/>
        </p:nvSpPr>
        <p:spPr>
          <a:xfrm>
            <a:off x="667512" y="5367528"/>
            <a:ext cx="5103723" cy="1014985"/>
          </a:xfrm>
          <a:prstGeom prst="rect">
            <a:avLst/>
          </a:prstGeom>
          <a:noFill/>
        </p:spPr>
        <p:txBody>
          <a:bodyPr wrap="square" anchor="t" lIns="0" rIns="0" tIns="0" bIns="0">
            <a:noAutofit/>
          </a:bodyPr>
          <a:lstStyle/>
          <a:p>
            <a:pPr algn="l">
              <a:lnSpc>
                <a:spcPct val="125000"/>
              </a:lnSpc>
            </a:pPr>
            <a:r>
              <a:rPr sz="1100" b="1" i="0">
                <a:solidFill>
                  <a:srgbClr val="1A1818"/>
                </a:solidFill>
                <a:latin typeface="Calibri"/>
              </a:rPr>
              <a:t>Vigilar. </a:t>
            </a:r>
            <a:r>
              <a:rPr sz="1100" b="0" i="0">
                <a:solidFill>
                  <a:srgbClr val="6B6B6B"/>
                </a:solidFill>
                <a:latin typeface="Calibri"/>
              </a:rPr>
              <a:t>Generan tráfico, pero erosionan la percepción de calidad.</a:t>
            </a:r>
          </a:p>
        </p:txBody>
      </p:sp>
      <p:sp>
        <p:nvSpPr>
          <p:cNvPr id="17" name="Rectangle 16"/>
          <p:cNvSpPr/>
          <p:nvPr/>
        </p:nvSpPr>
        <p:spPr>
          <a:xfrm>
            <a:off x="6255867" y="4434840"/>
            <a:ext cx="5432907" cy="205740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0459" y="4562856"/>
            <a:ext cx="5103723"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Bajo rendimiento</a:t>
            </a:r>
          </a:p>
        </p:txBody>
      </p:sp>
      <p:sp>
        <p:nvSpPr>
          <p:cNvPr id="19" name="TextBox 18"/>
          <p:cNvSpPr txBox="1"/>
          <p:nvPr/>
        </p:nvSpPr>
        <p:spPr>
          <a:xfrm>
            <a:off x="6420459" y="4855464"/>
            <a:ext cx="5103723" cy="457200"/>
          </a:xfrm>
          <a:prstGeom prst="rect">
            <a:avLst/>
          </a:prstGeom>
          <a:noFill/>
        </p:spPr>
        <p:txBody>
          <a:bodyPr wrap="square" anchor="t" lIns="0" rIns="0" tIns="0" bIns="0">
            <a:noAutofit/>
          </a:bodyPr>
          <a:lstStyle/>
          <a:p>
            <a:pPr algn="l">
              <a:lnSpc>
                <a:spcPct val="100000"/>
              </a:lnSpc>
            </a:pPr>
            <a:r>
              <a:rPr sz="2800" b="1" i="0">
                <a:solidFill>
                  <a:srgbClr val="6B6B6B"/>
                </a:solidFill>
                <a:latin typeface="Cambria"/>
              </a:rPr>
              <a:t>4.475</a:t>
            </a:r>
          </a:p>
        </p:txBody>
      </p:sp>
      <p:sp>
        <p:nvSpPr>
          <p:cNvPr id="20" name="TextBox 19"/>
          <p:cNvSpPr txBox="1"/>
          <p:nvPr/>
        </p:nvSpPr>
        <p:spPr>
          <a:xfrm>
            <a:off x="6420459" y="5367528"/>
            <a:ext cx="5103723" cy="1014985"/>
          </a:xfrm>
          <a:prstGeom prst="rect">
            <a:avLst/>
          </a:prstGeom>
          <a:noFill/>
        </p:spPr>
        <p:txBody>
          <a:bodyPr wrap="square" anchor="t" lIns="0" rIns="0" tIns="0" bIns="0">
            <a:noAutofit/>
          </a:bodyPr>
          <a:lstStyle/>
          <a:p>
            <a:pPr algn="l">
              <a:lnSpc>
                <a:spcPct val="125000"/>
              </a:lnSpc>
            </a:pPr>
            <a:r>
              <a:rPr sz="1100" b="1" i="0">
                <a:solidFill>
                  <a:srgbClr val="1A1818"/>
                </a:solidFill>
                <a:latin typeface="Calibri"/>
              </a:rPr>
              <a:t>Revisar. </a:t>
            </a:r>
            <a:r>
              <a:rPr sz="1100" b="0" i="0">
                <a:solidFill>
                  <a:srgbClr val="6B6B6B"/>
                </a:solidFill>
                <a:latin typeface="Calibri"/>
              </a:rPr>
              <a:t>Candidatos naturales a depuración del catálogo.</a:t>
            </a:r>
          </a:p>
        </p:txBody>
      </p:sp>
      <p:sp>
        <p:nvSpPr>
          <p:cNvPr id="21" name="TextBox 20"/>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22" name="TextBox 21"/>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DÓNDE ESTÁ LA OPORTUNIDAD · 1 DE 2</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300" b="1" i="0">
                <a:solidFill>
                  <a:srgbClr val="1A1818"/>
                </a:solidFill>
                <a:latin typeface="Cambria"/>
              </a:rPr>
              <a:t>Los géneros mejor evaluados son los menos representados</a:t>
            </a:r>
          </a:p>
        </p:txBody>
      </p:sp>
      <p:pic>
        <p:nvPicPr>
          <p:cNvPr id="5" name="Picture 4" descr="05_generos_calidad_volumen.png"/>
          <p:cNvPicPr>
            <a:picLocks noChangeAspect="1"/>
          </p:cNvPicPr>
          <p:nvPr/>
        </p:nvPicPr>
        <p:blipFill>
          <a:blip r:embed="rId2"/>
          <a:stretch>
            <a:fillRect/>
          </a:stretch>
        </p:blipFill>
        <p:spPr>
          <a:xfrm>
            <a:off x="502920" y="1640381"/>
            <a:ext cx="6492240" cy="4464205"/>
          </a:xfrm>
          <a:prstGeom prst="rect">
            <a:avLst/>
          </a:prstGeom>
        </p:spPr>
      </p:pic>
      <p:graphicFrame>
        <p:nvGraphicFramePr>
          <p:cNvPr id="6" name="Table 5"/>
          <p:cNvGraphicFramePr>
            <a:graphicFrameLocks noGrp="1"/>
          </p:cNvGraphicFramePr>
          <p:nvPr/>
        </p:nvGraphicFramePr>
        <p:xfrm>
          <a:off x="7315200" y="1481328"/>
          <a:ext cx="4373573" cy="2304288"/>
        </p:xfrm>
        <a:graphic>
          <a:graphicData uri="http://schemas.openxmlformats.org/drawingml/2006/table">
            <a:tbl>
              <a:tblPr/>
              <a:tblGrid>
                <a:gridCol w="2186787"/>
                <a:gridCol w="1093393"/>
                <a:gridCol w="1093393"/>
              </a:tblGrid>
              <a:tr h="384048">
                <a:tc>
                  <a:txBody>
                    <a:bodyPr wrap="square"/>
                    <a:lstStyle/>
                    <a:p>
                      <a:pPr algn="l"/>
                      <a:r>
                        <a:rPr sz="950" b="1">
                          <a:solidFill>
                            <a:srgbClr val="FFFFFF"/>
                          </a:solidFill>
                          <a:latin typeface="Calibri"/>
                        </a:rPr>
                        <a:t>GÉNERO</a:t>
                      </a:r>
                    </a:p>
                  </a:txBody>
                  <a:tcPr marL="88900" marR="88900" marT="38100" marB="38100" anchor="ctr">
                    <a:solidFill>
                      <a:srgbClr val="1A1818"/>
                    </a:solidFill>
                  </a:tcPr>
                </a:tc>
                <a:tc>
                  <a:txBody>
                    <a:bodyPr wrap="square"/>
                    <a:lstStyle/>
                    <a:p>
                      <a:pPr algn="r"/>
                      <a:r>
                        <a:rPr sz="950" b="1">
                          <a:solidFill>
                            <a:srgbClr val="FFFFFF"/>
                          </a:solidFill>
                          <a:latin typeface="Calibri"/>
                        </a:rPr>
                        <a:t>TÍTULOS</a:t>
                      </a:r>
                    </a:p>
                  </a:txBody>
                  <a:tcPr marL="88900" marR="88900" marT="38100" marB="38100" anchor="ctr">
                    <a:solidFill>
                      <a:srgbClr val="1A1818"/>
                    </a:solidFill>
                  </a:tcPr>
                </a:tc>
                <a:tc>
                  <a:txBody>
                    <a:bodyPr wrap="square"/>
                    <a:lstStyle/>
                    <a:p>
                      <a:pPr algn="r"/>
                      <a:r>
                        <a:rPr sz="950" b="1">
                          <a:solidFill>
                            <a:srgbClr val="FFFFFF"/>
                          </a:solidFill>
                          <a:latin typeface="Calibri"/>
                        </a:rPr>
                        <a:t>CALIF.</a:t>
                      </a:r>
                    </a:p>
                  </a:txBody>
                  <a:tcPr marL="88900" marR="88900" marT="38100" marB="38100" anchor="ctr">
                    <a:solidFill>
                      <a:srgbClr val="1A1818"/>
                    </a:solidFill>
                  </a:tcPr>
                </a:tc>
              </a:tr>
              <a:tr h="384048">
                <a:tc>
                  <a:txBody>
                    <a:bodyPr wrap="square"/>
                    <a:lstStyle/>
                    <a:p>
                      <a:pPr algn="l"/>
                      <a:r>
                        <a:rPr sz="1100" b="0">
                          <a:solidFill>
                            <a:srgbClr val="1A1818"/>
                          </a:solidFill>
                          <a:latin typeface="Calibri"/>
                        </a:rPr>
                        <a:t>Documental</a:t>
                      </a:r>
                    </a:p>
                  </a:txBody>
                  <a:tcPr marL="88900" marR="88900" marT="38100" marB="38100" anchor="ctr">
                    <a:solidFill>
                      <a:srgbClr val="FFFFFF"/>
                    </a:solidFill>
                  </a:tcPr>
                </a:tc>
                <a:tc>
                  <a:txBody>
                    <a:bodyPr wrap="square"/>
                    <a:lstStyle/>
                    <a:p>
                      <a:pPr algn="r"/>
                      <a:r>
                        <a:rPr sz="1100" b="0">
                          <a:solidFill>
                            <a:srgbClr val="1A1818"/>
                          </a:solidFill>
                          <a:latin typeface="Calibri"/>
                        </a:rPr>
                        <a:t>1.426</a:t>
                      </a:r>
                    </a:p>
                  </a:txBody>
                  <a:tcPr marL="88900" marR="88900" marT="38100" marB="38100" anchor="ctr">
                    <a:solidFill>
                      <a:srgbClr val="FFFFFF"/>
                    </a:solidFill>
                  </a:tcPr>
                </a:tc>
                <a:tc>
                  <a:txBody>
                    <a:bodyPr wrap="square"/>
                    <a:lstStyle/>
                    <a:p>
                      <a:pPr algn="r"/>
                      <a:r>
                        <a:rPr sz="1100" b="0">
                          <a:solidFill>
                            <a:srgbClr val="1A1818"/>
                          </a:solidFill>
                          <a:latin typeface="Calibri"/>
                        </a:rPr>
                        <a:t>7,24</a:t>
                      </a:r>
                    </a:p>
                  </a:txBody>
                  <a:tcPr marL="88900" marR="88900" marT="38100" marB="38100" anchor="ctr">
                    <a:solidFill>
                      <a:srgbClr val="FFFFFF"/>
                    </a:solidFill>
                  </a:tcPr>
                </a:tc>
              </a:tr>
              <a:tr h="384048">
                <a:tc>
                  <a:txBody>
                    <a:bodyPr wrap="square"/>
                    <a:lstStyle/>
                    <a:p>
                      <a:pPr algn="l"/>
                      <a:r>
                        <a:rPr sz="1100" b="0">
                          <a:solidFill>
                            <a:srgbClr val="1A1818"/>
                          </a:solidFill>
                          <a:latin typeface="Calibri"/>
                        </a:rPr>
                        <a:t>Infantil</a:t>
                      </a:r>
                    </a:p>
                  </a:txBody>
                  <a:tcPr marL="88900" marR="88900" marT="38100" marB="38100" anchor="ctr">
                    <a:solidFill>
                      <a:srgbClr val="FAF9F8"/>
                    </a:solidFill>
                  </a:tcPr>
                </a:tc>
                <a:tc>
                  <a:txBody>
                    <a:bodyPr wrap="square"/>
                    <a:lstStyle/>
                    <a:p>
                      <a:pPr algn="r"/>
                      <a:r>
                        <a:rPr sz="1100" b="0">
                          <a:solidFill>
                            <a:srgbClr val="1A1818"/>
                          </a:solidFill>
                          <a:latin typeface="Calibri"/>
                        </a:rPr>
                        <a:t>681</a:t>
                      </a:r>
                    </a:p>
                  </a:txBody>
                  <a:tcPr marL="88900" marR="88900" marT="38100" marB="38100" anchor="ctr">
                    <a:solidFill>
                      <a:srgbClr val="FAF9F8"/>
                    </a:solidFill>
                  </a:tcPr>
                </a:tc>
                <a:tc>
                  <a:txBody>
                    <a:bodyPr wrap="square"/>
                    <a:lstStyle/>
                    <a:p>
                      <a:pPr algn="r"/>
                      <a:r>
                        <a:rPr sz="1100" b="0">
                          <a:solidFill>
                            <a:srgbClr val="1A1818"/>
                          </a:solidFill>
                          <a:latin typeface="Calibri"/>
                        </a:rPr>
                        <a:t>7,20</a:t>
                      </a:r>
                    </a:p>
                  </a:txBody>
                  <a:tcPr marL="88900" marR="88900" marT="38100" marB="38100" anchor="ctr">
                    <a:solidFill>
                      <a:srgbClr val="FAF9F8"/>
                    </a:solidFill>
                  </a:tcPr>
                </a:tc>
              </a:tr>
              <a:tr h="384048">
                <a:tc>
                  <a:txBody>
                    <a:bodyPr wrap="square"/>
                    <a:lstStyle/>
                    <a:p>
                      <a:pPr algn="l"/>
                      <a:r>
                        <a:rPr sz="1100" b="0">
                          <a:solidFill>
                            <a:srgbClr val="1A1818"/>
                          </a:solidFill>
                          <a:latin typeface="Calibri"/>
                        </a:rPr>
                        <a:t>Musical</a:t>
                      </a:r>
                    </a:p>
                  </a:txBody>
                  <a:tcPr marL="88900" marR="88900" marT="38100" marB="38100" anchor="ctr">
                    <a:solidFill>
                      <a:srgbClr val="FFFFFF"/>
                    </a:solidFill>
                  </a:tcPr>
                </a:tc>
                <a:tc>
                  <a:txBody>
                    <a:bodyPr wrap="square"/>
                    <a:lstStyle/>
                    <a:p>
                      <a:pPr algn="r"/>
                      <a:r>
                        <a:rPr sz="1100" b="0">
                          <a:solidFill>
                            <a:srgbClr val="1A1818"/>
                          </a:solidFill>
                          <a:latin typeface="Calibri"/>
                        </a:rPr>
                        <a:t>458</a:t>
                      </a:r>
                    </a:p>
                  </a:txBody>
                  <a:tcPr marL="88900" marR="88900" marT="38100" marB="38100" anchor="ctr">
                    <a:solidFill>
                      <a:srgbClr val="FFFFFF"/>
                    </a:solidFill>
                  </a:tcPr>
                </a:tc>
                <a:tc>
                  <a:txBody>
                    <a:bodyPr wrap="square"/>
                    <a:lstStyle/>
                    <a:p>
                      <a:pPr algn="r"/>
                      <a:r>
                        <a:rPr sz="1100" b="0">
                          <a:solidFill>
                            <a:srgbClr val="1A1818"/>
                          </a:solidFill>
                          <a:latin typeface="Calibri"/>
                        </a:rPr>
                        <a:t>6,96</a:t>
                      </a:r>
                    </a:p>
                  </a:txBody>
                  <a:tcPr marL="88900" marR="88900" marT="38100" marB="38100" anchor="ctr">
                    <a:solidFill>
                      <a:srgbClr val="FFFFFF"/>
                    </a:solidFill>
                  </a:tcPr>
                </a:tc>
              </a:tr>
              <a:tr h="384048">
                <a:tc>
                  <a:txBody>
                    <a:bodyPr wrap="square"/>
                    <a:lstStyle/>
                    <a:p>
                      <a:pPr algn="l"/>
                      <a:r>
                        <a:rPr sz="1100" b="0">
                          <a:solidFill>
                            <a:srgbClr val="1A1818"/>
                          </a:solidFill>
                          <a:latin typeface="Calibri"/>
                        </a:rPr>
                        <a:t>Bélico y Político</a:t>
                      </a:r>
                    </a:p>
                  </a:txBody>
                  <a:tcPr marL="88900" marR="88900" marT="38100" marB="38100" anchor="ctr">
                    <a:solidFill>
                      <a:srgbClr val="FAF9F8"/>
                    </a:solidFill>
                  </a:tcPr>
                </a:tc>
                <a:tc>
                  <a:txBody>
                    <a:bodyPr wrap="square"/>
                    <a:lstStyle/>
                    <a:p>
                      <a:pPr algn="r"/>
                      <a:r>
                        <a:rPr sz="1100" b="0">
                          <a:solidFill>
                            <a:srgbClr val="1A1818"/>
                          </a:solidFill>
                          <a:latin typeface="Calibri"/>
                        </a:rPr>
                        <a:t>659</a:t>
                      </a:r>
                    </a:p>
                  </a:txBody>
                  <a:tcPr marL="88900" marR="88900" marT="38100" marB="38100" anchor="ctr">
                    <a:solidFill>
                      <a:srgbClr val="FAF9F8"/>
                    </a:solidFill>
                  </a:tcPr>
                </a:tc>
                <a:tc>
                  <a:txBody>
                    <a:bodyPr wrap="square"/>
                    <a:lstStyle/>
                    <a:p>
                      <a:pPr algn="r"/>
                      <a:r>
                        <a:rPr sz="1100" b="0">
                          <a:solidFill>
                            <a:srgbClr val="1A1818"/>
                          </a:solidFill>
                          <a:latin typeface="Calibri"/>
                        </a:rPr>
                        <a:t>6,94</a:t>
                      </a:r>
                    </a:p>
                  </a:txBody>
                  <a:tcPr marL="88900" marR="88900" marT="38100" marB="38100" anchor="ctr">
                    <a:solidFill>
                      <a:srgbClr val="FAF9F8"/>
                    </a:solidFill>
                  </a:tcPr>
                </a:tc>
              </a:tr>
              <a:tr h="384048">
                <a:tc>
                  <a:txBody>
                    <a:bodyPr wrap="square"/>
                    <a:lstStyle/>
                    <a:p>
                      <a:pPr algn="l"/>
                      <a:r>
                        <a:rPr sz="1100" b="0">
                          <a:solidFill>
                            <a:srgbClr val="1A1818"/>
                          </a:solidFill>
                          <a:latin typeface="Calibri"/>
                        </a:rPr>
                        <a:t>Reality</a:t>
                      </a:r>
                    </a:p>
                  </a:txBody>
                  <a:tcPr marL="88900" marR="88900" marT="38100" marB="38100" anchor="ctr">
                    <a:solidFill>
                      <a:srgbClr val="FFFFFF"/>
                    </a:solidFill>
                  </a:tcPr>
                </a:tc>
                <a:tc>
                  <a:txBody>
                    <a:bodyPr wrap="square"/>
                    <a:lstStyle/>
                    <a:p>
                      <a:pPr algn="r"/>
                      <a:r>
                        <a:rPr sz="1100" b="0">
                          <a:solidFill>
                            <a:srgbClr val="1A1818"/>
                          </a:solidFill>
                          <a:latin typeface="Calibri"/>
                        </a:rPr>
                        <a:t>1.210</a:t>
                      </a:r>
                    </a:p>
                  </a:txBody>
                  <a:tcPr marL="88900" marR="88900" marT="38100" marB="38100" anchor="ctr">
                    <a:solidFill>
                      <a:srgbClr val="FFFFFF"/>
                    </a:solidFill>
                  </a:tcPr>
                </a:tc>
                <a:tc>
                  <a:txBody>
                    <a:bodyPr wrap="square"/>
                    <a:lstStyle/>
                    <a:p>
                      <a:pPr algn="r"/>
                      <a:r>
                        <a:rPr sz="1100" b="0">
                          <a:solidFill>
                            <a:srgbClr val="1A1818"/>
                          </a:solidFill>
                          <a:latin typeface="Calibri"/>
                        </a:rPr>
                        <a:t>6,86</a:t>
                      </a:r>
                    </a:p>
                  </a:txBody>
                  <a:tcPr marL="88900" marR="88900" marT="38100" marB="38100" anchor="ctr">
                    <a:solidFill>
                      <a:srgbClr val="FFFFFF"/>
                    </a:solidFill>
                  </a:tcPr>
                </a:tc>
              </a:tr>
            </a:tbl>
          </a:graphicData>
        </a:graphic>
      </p:graphicFrame>
      <p:sp>
        <p:nvSpPr>
          <p:cNvPr id="7" name="TextBox 6"/>
          <p:cNvSpPr txBox="1"/>
          <p:nvPr/>
        </p:nvSpPr>
        <p:spPr>
          <a:xfrm>
            <a:off x="7315200" y="4343400"/>
            <a:ext cx="4373575" cy="1737360"/>
          </a:xfrm>
          <a:prstGeom prst="rect">
            <a:avLst/>
          </a:prstGeom>
          <a:noFill/>
        </p:spPr>
        <p:txBody>
          <a:bodyPr wrap="square" anchor="t" lIns="0" rIns="0" tIns="0" bIns="0">
            <a:noAutofit/>
          </a:bodyPr>
          <a:lstStyle/>
          <a:p>
            <a:pPr algn="l">
              <a:lnSpc>
                <a:spcPct val="130000"/>
              </a:lnSpc>
            </a:pPr>
            <a:r>
              <a:rPr sz="1100" b="0" i="0">
                <a:solidFill>
                  <a:srgbClr val="6B6B6B"/>
                </a:solidFill>
                <a:latin typeface="Calibri"/>
              </a:rPr>
              <a:t>Calidad sobre la mediana, oferta por debajo de ella. En el extremo opuesto, Terror (5,72) y Suspenso (6,04) suman 5.951 títulos con las peores calificaciones.</a:t>
            </a:r>
          </a:p>
        </p:txBody>
      </p:sp>
      <p:sp>
        <p:nvSpPr>
          <p:cNvPr id="8" name="TextBox 7"/>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9" name="TextBox 8"/>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DÓNDE ESTÁ LA OPORTUNIDAD · 2 DE 2</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300" b="1" i="0">
                <a:solidFill>
                  <a:srgbClr val="1A1818"/>
                </a:solidFill>
                <a:latin typeface="Cambria"/>
              </a:rPr>
              <a:t>El inglés domina el catálogo, pero no la calidad percibida</a:t>
            </a:r>
          </a:p>
        </p:txBody>
      </p:sp>
      <p:pic>
        <p:nvPicPr>
          <p:cNvPr id="5" name="Picture 4" descr="07_mercados_idiomas.png"/>
          <p:cNvPicPr>
            <a:picLocks noChangeAspect="1"/>
          </p:cNvPicPr>
          <p:nvPr/>
        </p:nvPicPr>
        <p:blipFill>
          <a:blip r:embed="rId2"/>
          <a:stretch>
            <a:fillRect/>
          </a:stretch>
        </p:blipFill>
        <p:spPr>
          <a:xfrm>
            <a:off x="502920" y="1529247"/>
            <a:ext cx="6492240" cy="4686474"/>
          </a:xfrm>
          <a:prstGeom prst="rect">
            <a:avLst/>
          </a:prstGeom>
        </p:spPr>
      </p:pic>
      <p:sp>
        <p:nvSpPr>
          <p:cNvPr id="6" name="Rectangle 5"/>
          <p:cNvSpPr/>
          <p:nvPr/>
        </p:nvSpPr>
        <p:spPr>
          <a:xfrm>
            <a:off x="7315200" y="1481328"/>
            <a:ext cx="4373575" cy="36576"/>
          </a:xfrm>
          <a:prstGeom prst="rect">
            <a:avLst/>
          </a:prstGeom>
          <a:solidFill>
            <a:srgbClr val="1A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572768"/>
            <a:ext cx="4373575" cy="502920"/>
          </a:xfrm>
          <a:prstGeom prst="rect">
            <a:avLst/>
          </a:prstGeom>
          <a:noFill/>
        </p:spPr>
        <p:txBody>
          <a:bodyPr wrap="square" anchor="t" lIns="0" rIns="0" tIns="0" bIns="0">
            <a:noAutofit/>
          </a:bodyPr>
          <a:lstStyle/>
          <a:p>
            <a:pPr algn="l">
              <a:lnSpc>
                <a:spcPct val="100000"/>
              </a:lnSpc>
            </a:pPr>
            <a:r>
              <a:rPr sz="2600" b="1" i="0">
                <a:solidFill>
                  <a:srgbClr val="1A1818"/>
                </a:solidFill>
                <a:latin typeface="Cambria"/>
              </a:rPr>
              <a:t>47,4%</a:t>
            </a:r>
          </a:p>
        </p:txBody>
      </p:sp>
      <p:sp>
        <p:nvSpPr>
          <p:cNvPr id="8" name="TextBox 7"/>
          <p:cNvSpPr txBox="1"/>
          <p:nvPr/>
        </p:nvSpPr>
        <p:spPr>
          <a:xfrm>
            <a:off x="7315200" y="2103120"/>
            <a:ext cx="4373575" cy="502920"/>
          </a:xfrm>
          <a:prstGeom prst="rect">
            <a:avLst/>
          </a:prstGeom>
          <a:noFill/>
        </p:spPr>
        <p:txBody>
          <a:bodyPr wrap="square" anchor="t" lIns="0" rIns="0" tIns="0" bIns="0">
            <a:noAutofit/>
          </a:bodyPr>
          <a:lstStyle/>
          <a:p>
            <a:pPr algn="l">
              <a:lnSpc>
                <a:spcPct val="115000"/>
              </a:lnSpc>
            </a:pPr>
            <a:r>
              <a:rPr sz="1000" b="0" i="0">
                <a:solidFill>
                  <a:srgbClr val="6B6B6B"/>
                </a:solidFill>
                <a:latin typeface="Calibri"/>
              </a:rPr>
              <a:t>del catálogo calificado está en inglés…</a:t>
            </a:r>
          </a:p>
        </p:txBody>
      </p:sp>
      <p:sp>
        <p:nvSpPr>
          <p:cNvPr id="9" name="Rectangle 8"/>
          <p:cNvSpPr/>
          <p:nvPr/>
        </p:nvSpPr>
        <p:spPr>
          <a:xfrm>
            <a:off x="7315200" y="2395728"/>
            <a:ext cx="4373575" cy="36576"/>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2487168"/>
            <a:ext cx="4373575" cy="502920"/>
          </a:xfrm>
          <a:prstGeom prst="rect">
            <a:avLst/>
          </a:prstGeom>
          <a:noFill/>
        </p:spPr>
        <p:txBody>
          <a:bodyPr wrap="square" anchor="t" lIns="0" rIns="0" tIns="0" bIns="0">
            <a:noAutofit/>
          </a:bodyPr>
          <a:lstStyle/>
          <a:p>
            <a:pPr algn="l">
              <a:lnSpc>
                <a:spcPct val="100000"/>
              </a:lnSpc>
            </a:pPr>
            <a:r>
              <a:rPr sz="2400" b="1" i="0">
                <a:solidFill>
                  <a:srgbClr val="E69F00"/>
                </a:solidFill>
                <a:latin typeface="Cambria"/>
              </a:rPr>
              <a:t>10º de 12</a:t>
            </a:r>
          </a:p>
        </p:txBody>
      </p:sp>
      <p:sp>
        <p:nvSpPr>
          <p:cNvPr id="11" name="TextBox 10"/>
          <p:cNvSpPr txBox="1"/>
          <p:nvPr/>
        </p:nvSpPr>
        <p:spPr>
          <a:xfrm>
            <a:off x="7315200" y="3017520"/>
            <a:ext cx="4373575" cy="502920"/>
          </a:xfrm>
          <a:prstGeom prst="rect">
            <a:avLst/>
          </a:prstGeom>
          <a:noFill/>
        </p:spPr>
        <p:txBody>
          <a:bodyPr wrap="square" anchor="t" lIns="0" rIns="0" tIns="0" bIns="0">
            <a:noAutofit/>
          </a:bodyPr>
          <a:lstStyle/>
          <a:p>
            <a:pPr algn="l">
              <a:lnSpc>
                <a:spcPct val="115000"/>
              </a:lnSpc>
            </a:pPr>
            <a:r>
              <a:rPr sz="1000" b="0" i="0">
                <a:solidFill>
                  <a:srgbClr val="6B6B6B"/>
                </a:solidFill>
                <a:latin typeface="Calibri"/>
              </a:rPr>
              <a:t>…pero ocupa ese lugar en calificación promedio</a:t>
            </a:r>
          </a:p>
        </p:txBody>
      </p:sp>
      <p:graphicFrame>
        <p:nvGraphicFramePr>
          <p:cNvPr id="12" name="Table 11"/>
          <p:cNvGraphicFramePr>
            <a:graphicFrameLocks noGrp="1"/>
          </p:cNvGraphicFramePr>
          <p:nvPr/>
        </p:nvGraphicFramePr>
        <p:xfrm>
          <a:off x="7315200" y="3447288"/>
          <a:ext cx="4373575" cy="1463040"/>
        </p:xfrm>
        <a:graphic>
          <a:graphicData uri="http://schemas.openxmlformats.org/drawingml/2006/table">
            <a:tbl>
              <a:tblPr/>
              <a:tblGrid>
                <a:gridCol w="1924373"/>
                <a:gridCol w="1224601"/>
                <a:gridCol w="1224601"/>
              </a:tblGrid>
              <a:tr h="365760">
                <a:tc>
                  <a:txBody>
                    <a:bodyPr wrap="square"/>
                    <a:lstStyle/>
                    <a:p>
                      <a:pPr algn="l"/>
                      <a:r>
                        <a:rPr sz="950" b="1">
                          <a:solidFill>
                            <a:srgbClr val="FFFFFF"/>
                          </a:solidFill>
                          <a:latin typeface="Calibri"/>
                        </a:rPr>
                        <a:t>MERCADO</a:t>
                      </a:r>
                    </a:p>
                  </a:txBody>
                  <a:tcPr marL="88900" marR="88900" marT="38100" marB="38100" anchor="ctr">
                    <a:solidFill>
                      <a:srgbClr val="1A1818"/>
                    </a:solidFill>
                  </a:tcPr>
                </a:tc>
                <a:tc>
                  <a:txBody>
                    <a:bodyPr wrap="square"/>
                    <a:lstStyle/>
                    <a:p>
                      <a:pPr algn="r"/>
                      <a:r>
                        <a:rPr sz="950" b="1">
                          <a:solidFill>
                            <a:srgbClr val="FFFFFF"/>
                          </a:solidFill>
                          <a:latin typeface="Calibri"/>
                        </a:rPr>
                        <a:t>TÍTULOS</a:t>
                      </a:r>
                    </a:p>
                  </a:txBody>
                  <a:tcPr marL="88900" marR="88900" marT="38100" marB="38100" anchor="ctr">
                    <a:solidFill>
                      <a:srgbClr val="1A1818"/>
                    </a:solidFill>
                  </a:tcPr>
                </a:tc>
                <a:tc>
                  <a:txBody>
                    <a:bodyPr wrap="square"/>
                    <a:lstStyle/>
                    <a:p>
                      <a:pPr algn="r"/>
                      <a:r>
                        <a:rPr sz="950" b="1">
                          <a:solidFill>
                            <a:srgbClr val="FFFFFF"/>
                          </a:solidFill>
                          <a:latin typeface="Calibri"/>
                        </a:rPr>
                        <a:t>CALIF.</a:t>
                      </a:r>
                    </a:p>
                  </a:txBody>
                  <a:tcPr marL="88900" marR="88900" marT="38100" marB="38100" anchor="ctr">
                    <a:solidFill>
                      <a:srgbClr val="1A1818"/>
                    </a:solidFill>
                  </a:tcPr>
                </a:tc>
              </a:tr>
              <a:tr h="365760">
                <a:tc>
                  <a:txBody>
                    <a:bodyPr wrap="square"/>
                    <a:lstStyle/>
                    <a:p>
                      <a:pPr algn="l"/>
                      <a:r>
                        <a:rPr sz="1050" b="0">
                          <a:solidFill>
                            <a:srgbClr val="1A1818"/>
                          </a:solidFill>
                          <a:latin typeface="Calibri"/>
                        </a:rPr>
                        <a:t>Japonés</a:t>
                      </a:r>
                    </a:p>
                  </a:txBody>
                  <a:tcPr marL="88900" marR="88900" marT="38100" marB="38100" anchor="ctr">
                    <a:solidFill>
                      <a:srgbClr val="FFFFFF"/>
                    </a:solidFill>
                  </a:tcPr>
                </a:tc>
                <a:tc>
                  <a:txBody>
                    <a:bodyPr wrap="square"/>
                    <a:lstStyle/>
                    <a:p>
                      <a:pPr algn="r"/>
                      <a:r>
                        <a:rPr sz="1050" b="0">
                          <a:solidFill>
                            <a:srgbClr val="1A1818"/>
                          </a:solidFill>
                          <a:latin typeface="Calibri"/>
                        </a:rPr>
                        <a:t>2.544</a:t>
                      </a:r>
                    </a:p>
                  </a:txBody>
                  <a:tcPr marL="88900" marR="88900" marT="38100" marB="38100" anchor="ctr">
                    <a:solidFill>
                      <a:srgbClr val="FFFFFF"/>
                    </a:solidFill>
                  </a:tcPr>
                </a:tc>
                <a:tc>
                  <a:txBody>
                    <a:bodyPr wrap="square"/>
                    <a:lstStyle/>
                    <a:p>
                      <a:pPr algn="r"/>
                      <a:r>
                        <a:rPr sz="1050" b="0">
                          <a:solidFill>
                            <a:srgbClr val="1A1818"/>
                          </a:solidFill>
                          <a:latin typeface="Calibri"/>
                        </a:rPr>
                        <a:t>7,20</a:t>
                      </a:r>
                    </a:p>
                  </a:txBody>
                  <a:tcPr marL="88900" marR="88900" marT="38100" marB="38100" anchor="ctr">
                    <a:solidFill>
                      <a:srgbClr val="FFFFFF"/>
                    </a:solidFill>
                  </a:tcPr>
                </a:tc>
              </a:tr>
              <a:tr h="365760">
                <a:tc>
                  <a:txBody>
                    <a:bodyPr wrap="square"/>
                    <a:lstStyle/>
                    <a:p>
                      <a:pPr algn="l"/>
                      <a:r>
                        <a:rPr sz="1050" b="0">
                          <a:solidFill>
                            <a:srgbClr val="1A1818"/>
                          </a:solidFill>
                          <a:latin typeface="Calibri"/>
                        </a:rPr>
                        <a:t>Chino</a:t>
                      </a:r>
                    </a:p>
                  </a:txBody>
                  <a:tcPr marL="88900" marR="88900" marT="38100" marB="38100" anchor="ctr">
                    <a:solidFill>
                      <a:srgbClr val="FAF9F8"/>
                    </a:solidFill>
                  </a:tcPr>
                </a:tc>
                <a:tc>
                  <a:txBody>
                    <a:bodyPr wrap="square"/>
                    <a:lstStyle/>
                    <a:p>
                      <a:pPr algn="r"/>
                      <a:r>
                        <a:rPr sz="1050" b="0">
                          <a:solidFill>
                            <a:srgbClr val="1A1818"/>
                          </a:solidFill>
                          <a:latin typeface="Calibri"/>
                        </a:rPr>
                        <a:t>1.960</a:t>
                      </a:r>
                    </a:p>
                  </a:txBody>
                  <a:tcPr marL="88900" marR="88900" marT="38100" marB="38100" anchor="ctr">
                    <a:solidFill>
                      <a:srgbClr val="FAF9F8"/>
                    </a:solidFill>
                  </a:tcPr>
                </a:tc>
                <a:tc>
                  <a:txBody>
                    <a:bodyPr wrap="square"/>
                    <a:lstStyle/>
                    <a:p>
                      <a:pPr algn="r"/>
                      <a:r>
                        <a:rPr sz="1050" b="0">
                          <a:solidFill>
                            <a:srgbClr val="1A1818"/>
                          </a:solidFill>
                          <a:latin typeface="Calibri"/>
                        </a:rPr>
                        <a:t>7,07</a:t>
                      </a:r>
                    </a:p>
                  </a:txBody>
                  <a:tcPr marL="88900" marR="88900" marT="38100" marB="38100" anchor="ctr">
                    <a:solidFill>
                      <a:srgbClr val="FAF9F8"/>
                    </a:solidFill>
                  </a:tcPr>
                </a:tc>
              </a:tr>
              <a:tr h="365760">
                <a:tc>
                  <a:txBody>
                    <a:bodyPr wrap="square"/>
                    <a:lstStyle/>
                    <a:p>
                      <a:pPr algn="l"/>
                      <a:r>
                        <a:rPr sz="1050" b="0">
                          <a:solidFill>
                            <a:srgbClr val="1A1818"/>
                          </a:solidFill>
                          <a:latin typeface="Calibri"/>
                        </a:rPr>
                        <a:t>Ruso</a:t>
                      </a:r>
                    </a:p>
                  </a:txBody>
                  <a:tcPr marL="88900" marR="88900" marT="38100" marB="38100" anchor="ctr">
                    <a:solidFill>
                      <a:srgbClr val="FFFFFF"/>
                    </a:solidFill>
                  </a:tcPr>
                </a:tc>
                <a:tc>
                  <a:txBody>
                    <a:bodyPr wrap="square"/>
                    <a:lstStyle/>
                    <a:p>
                      <a:pPr algn="r"/>
                      <a:r>
                        <a:rPr sz="1050" b="0">
                          <a:solidFill>
                            <a:srgbClr val="1A1818"/>
                          </a:solidFill>
                          <a:latin typeface="Calibri"/>
                        </a:rPr>
                        <a:t>361</a:t>
                      </a:r>
                    </a:p>
                  </a:txBody>
                  <a:tcPr marL="88900" marR="88900" marT="38100" marB="38100" anchor="ctr">
                    <a:solidFill>
                      <a:srgbClr val="FFFFFF"/>
                    </a:solidFill>
                  </a:tcPr>
                </a:tc>
                <a:tc>
                  <a:txBody>
                    <a:bodyPr wrap="square"/>
                    <a:lstStyle/>
                    <a:p>
                      <a:pPr algn="r"/>
                      <a:r>
                        <a:rPr sz="1050" b="0">
                          <a:solidFill>
                            <a:srgbClr val="1A1818"/>
                          </a:solidFill>
                          <a:latin typeface="Calibri"/>
                        </a:rPr>
                        <a:t>6,96</a:t>
                      </a:r>
                    </a:p>
                  </a:txBody>
                  <a:tcPr marL="88900" marR="88900" marT="38100" marB="38100" anchor="ctr">
                    <a:solidFill>
                      <a:srgbClr val="FFFFFF"/>
                    </a:solidFill>
                  </a:tcPr>
                </a:tc>
              </a:tr>
            </a:tbl>
          </a:graphicData>
        </a:graphic>
      </p:graphicFrame>
      <p:sp>
        <p:nvSpPr>
          <p:cNvPr id="13" name="TextBox 12"/>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4" name="TextBox 13"/>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RIESGO COMERCIAL</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200" b="1" i="0">
                <a:solidFill>
                  <a:srgbClr val="1A1818"/>
                </a:solidFill>
                <a:latin typeface="Cambria"/>
              </a:rPr>
              <a:t>El riesgo no está en las apuestas grandes: está en el tramo medio</a:t>
            </a:r>
          </a:p>
        </p:txBody>
      </p:sp>
      <p:pic>
        <p:nvPicPr>
          <p:cNvPr id="5" name="Picture 4" descr="10_rentabilidad_escala.png"/>
          <p:cNvPicPr>
            <a:picLocks noChangeAspect="1"/>
          </p:cNvPicPr>
          <p:nvPr/>
        </p:nvPicPr>
        <p:blipFill>
          <a:blip r:embed="rId2"/>
          <a:stretch>
            <a:fillRect/>
          </a:stretch>
        </p:blipFill>
        <p:spPr>
          <a:xfrm>
            <a:off x="502920" y="1535118"/>
            <a:ext cx="6949440" cy="4674732"/>
          </a:xfrm>
          <a:prstGeom prst="rect">
            <a:avLst/>
          </a:prstGeom>
        </p:spPr>
      </p:pic>
      <p:sp>
        <p:nvSpPr>
          <p:cNvPr id="6" name="TextBox 5"/>
          <p:cNvSpPr txBox="1"/>
          <p:nvPr/>
        </p:nvSpPr>
        <p:spPr>
          <a:xfrm>
            <a:off x="7818120" y="1572768"/>
            <a:ext cx="3870655" cy="3108960"/>
          </a:xfrm>
          <a:prstGeom prst="rect">
            <a:avLst/>
          </a:prstGeom>
          <a:noFill/>
        </p:spPr>
        <p:txBody>
          <a:bodyPr wrap="square" anchor="t" lIns="0" rIns="0" tIns="0" bIns="0">
            <a:noAutofit/>
          </a:bodyPr>
          <a:lstStyle/>
          <a:p>
            <a:pPr algn="l">
              <a:lnSpc>
                <a:spcPct val="130000"/>
              </a:lnSpc>
              <a:spcAft>
                <a:spcPts val="1200"/>
              </a:spcAft>
            </a:pPr>
            <a:r>
              <a:rPr sz="1300" b="1" i="0">
                <a:solidFill>
                  <a:srgbClr val="1A1818"/>
                </a:solidFill>
                <a:latin typeface="Calibri"/>
              </a:rPr>
              <a:t>Contra la intuición: </a:t>
            </a:r>
            <a:r>
              <a:rPr sz="1300" b="0" i="0">
                <a:solidFill>
                  <a:srgbClr val="1A1818"/>
                </a:solidFill>
                <a:latin typeface="Calibri"/>
              </a:rPr>
              <a:t>la tasa de éxito comercial </a:t>
            </a:r>
            <a:r>
              <a:rPr sz="1300" b="1" i="0">
                <a:solidFill>
                  <a:srgbClr val="1A1818"/>
                </a:solidFill>
                <a:latin typeface="Calibri"/>
              </a:rPr>
              <a:t>crece</a:t>
            </a:r>
            <a:r>
              <a:rPr sz="1300" b="0" i="0">
                <a:solidFill>
                  <a:srgbClr val="1A1818"/>
                </a:solidFill>
                <a:latin typeface="Calibri"/>
              </a:rPr>
              <a:t> con la escala de inversión.</a:t>
            </a:r>
          </a:p>
          <a:p>
            <a:pPr algn="l">
              <a:lnSpc>
                <a:spcPct val="130000"/>
              </a:lnSpc>
              <a:spcAft>
                <a:spcPts val="1600"/>
              </a:spcAft>
            </a:pPr>
            <a:r>
              <a:rPr sz="1300" b="0" i="0">
                <a:solidFill>
                  <a:srgbClr val="1A1818"/>
                </a:solidFill>
                <a:latin typeface="Calibri"/>
              </a:rPr>
              <a:t>El peor desempeño está en el tramo medio (56,2%), por debajo incluso de las producciones de bajo presupuesto — y es donde se concentra el mayor número de películas (1.632).</a:t>
            </a:r>
          </a:p>
          <a:p>
            <a:pPr algn="l">
              <a:lnSpc>
                <a:spcPct val="130000"/>
              </a:lnSpc>
            </a:pPr>
            <a:r>
              <a:rPr sz="1050" b="1" i="0">
                <a:solidFill>
                  <a:srgbClr val="6B6B6B"/>
                </a:solidFill>
                <a:latin typeface="Calibri"/>
              </a:rPr>
              <a:t>Cautela: </a:t>
            </a:r>
            <a:r>
              <a:rPr sz="1050" b="0" i="0">
                <a:solidFill>
                  <a:srgbClr val="6B6B6B"/>
                </a:solidFill>
                <a:latin typeface="Calibri"/>
              </a:rPr>
              <a:t>solo 22,0% de las películas informa datos financieros. Lectura indicativa.</a:t>
            </a:r>
          </a:p>
        </p:txBody>
      </p:sp>
      <p:sp>
        <p:nvSpPr>
          <p:cNvPr id="7" name="TextBox 6"/>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8" name="TextBox 7"/>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LA HERRAMIENTA</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200" b="1" i="0">
                <a:solidFill>
                  <a:srgbClr val="1A1818"/>
                </a:solidFill>
                <a:latin typeface="Cambria"/>
              </a:rPr>
              <a:t>Un dashboard para verificar y explorar, sin depender del equipo analítico</a:t>
            </a:r>
          </a:p>
        </p:txBody>
      </p:sp>
      <p:sp>
        <p:nvSpPr>
          <p:cNvPr id="5" name="Rectangle 4"/>
          <p:cNvSpPr/>
          <p:nvPr/>
        </p:nvSpPr>
        <p:spPr>
          <a:xfrm>
            <a:off x="502920" y="2130552"/>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03120"/>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Indicadores</a:t>
            </a:r>
          </a:p>
          <a:p>
            <a:pPr algn="l">
              <a:lnSpc>
                <a:spcPct val="112000"/>
              </a:lnSpc>
            </a:pPr>
            <a:r>
              <a:rPr sz="1250" b="0" i="0">
                <a:solidFill>
                  <a:srgbClr val="1A1818"/>
                </a:solidFill>
                <a:latin typeface="Calibri"/>
              </a:rPr>
              <a:t>Cuatro KPI que se recalculan con cada filtro, cada uno declarando sobre qué base se calcula.</a:t>
            </a:r>
          </a:p>
        </p:txBody>
      </p:sp>
      <p:sp>
        <p:nvSpPr>
          <p:cNvPr id="7" name="Rectangle 6"/>
          <p:cNvSpPr/>
          <p:nvPr/>
        </p:nvSpPr>
        <p:spPr>
          <a:xfrm>
            <a:off x="502920" y="3008376"/>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980944"/>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Filtros cruzados</a:t>
            </a:r>
          </a:p>
          <a:p>
            <a:pPr algn="l">
              <a:lnSpc>
                <a:spcPct val="112000"/>
              </a:lnSpc>
            </a:pPr>
            <a:r>
              <a:rPr sz="1250" b="0" i="0">
                <a:solidFill>
                  <a:srgbClr val="1A1818"/>
                </a:solidFill>
                <a:latin typeface="Calibri"/>
              </a:rPr>
              <a:t>Formato, género, idioma, año desde y calificación mínima, aplicables de forma simultánea.</a:t>
            </a:r>
          </a:p>
        </p:txBody>
      </p:sp>
      <p:sp>
        <p:nvSpPr>
          <p:cNvPr id="9" name="Rectangle 8"/>
          <p:cNvSpPr/>
          <p:nvPr/>
        </p:nvSpPr>
        <p:spPr>
          <a:xfrm>
            <a:off x="502920" y="3886200"/>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3858768"/>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Navegación</a:t>
            </a:r>
          </a:p>
          <a:p>
            <a:pPr algn="l">
              <a:lnSpc>
                <a:spcPct val="112000"/>
              </a:lnSpc>
            </a:pPr>
            <a:r>
              <a:rPr sz="1250" b="0" i="0">
                <a:solidFill>
                  <a:srgbClr val="1A1818"/>
                </a:solidFill>
                <a:latin typeface="Calibri"/>
              </a:rPr>
              <a:t>Cuatro pestañas temáticas; los filtros persisten al cambiar de vista.</a:t>
            </a:r>
          </a:p>
        </p:txBody>
      </p:sp>
      <p:sp>
        <p:nvSpPr>
          <p:cNvPr id="11" name="Rectangle 10"/>
          <p:cNvSpPr/>
          <p:nvPr/>
        </p:nvSpPr>
        <p:spPr>
          <a:xfrm>
            <a:off x="502920" y="4764024"/>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736592"/>
            <a:ext cx="5144871" cy="749808"/>
          </a:xfrm>
          <a:prstGeom prst="rect">
            <a:avLst/>
          </a:prstGeom>
          <a:noFill/>
        </p:spPr>
        <p:txBody>
          <a:bodyPr wrap="square" anchor="t" lIns="0" rIns="0" tIns="0" bIns="0">
            <a:noAutofit/>
          </a:bodyPr>
          <a:lstStyle/>
          <a:p>
            <a:pPr algn="l">
              <a:spcAft>
                <a:spcPts val="200"/>
              </a:spcAft>
            </a:pPr>
            <a:r>
              <a:rPr sz="1300" b="1" i="0">
                <a:solidFill>
                  <a:srgbClr val="1A1818"/>
                </a:solidFill>
                <a:latin typeface="Calibri"/>
              </a:rPr>
              <a:t>Interacción</a:t>
            </a:r>
          </a:p>
          <a:p>
            <a:pPr algn="l">
              <a:lnSpc>
                <a:spcPct val="112000"/>
              </a:lnSpc>
            </a:pPr>
            <a:r>
              <a:rPr sz="1250" b="0" i="0">
                <a:solidFill>
                  <a:srgbClr val="1A1818"/>
                </a:solidFill>
                <a:latin typeface="Calibri"/>
              </a:rPr>
              <a:t>Detalle al pasar el cursor, zoom en las dispersiones y aviso explícito cuando una combinación no arroja datos suficientes.</a:t>
            </a:r>
          </a:p>
        </p:txBody>
      </p:sp>
      <p:sp>
        <p:nvSpPr>
          <p:cNvPr id="13" name="Rectangle 12"/>
          <p:cNvSpPr/>
          <p:nvPr/>
        </p:nvSpPr>
        <p:spPr>
          <a:xfrm>
            <a:off x="6324447" y="2103120"/>
            <a:ext cx="5364327" cy="233172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7327" y="2249424"/>
            <a:ext cx="4998567" cy="365760"/>
          </a:xfrm>
          <a:prstGeom prst="rect">
            <a:avLst/>
          </a:prstGeom>
          <a:noFill/>
        </p:spPr>
        <p:txBody>
          <a:bodyPr wrap="square" anchor="t" lIns="0" rIns="0" tIns="0" bIns="0">
            <a:noAutofit/>
          </a:bodyPr>
          <a:lstStyle/>
          <a:p>
            <a:pPr algn="l">
              <a:lnSpc>
                <a:spcPct val="100000"/>
              </a:lnSpc>
            </a:pPr>
            <a:r>
              <a:rPr sz="1300" b="1" i="0">
                <a:solidFill>
                  <a:srgbClr val="E50914"/>
                </a:solidFill>
                <a:latin typeface="Calibri"/>
              </a:rPr>
              <a:t>Decisión técnica: HTML autocontenido</a:t>
            </a:r>
          </a:p>
        </p:txBody>
      </p:sp>
      <p:sp>
        <p:nvSpPr>
          <p:cNvPr id="15" name="TextBox 14"/>
          <p:cNvSpPr txBox="1"/>
          <p:nvPr/>
        </p:nvSpPr>
        <p:spPr>
          <a:xfrm>
            <a:off x="6507327" y="2724912"/>
            <a:ext cx="4998567" cy="1554480"/>
          </a:xfrm>
          <a:prstGeom prst="rect">
            <a:avLst/>
          </a:prstGeom>
          <a:noFill/>
        </p:spPr>
        <p:txBody>
          <a:bodyPr wrap="square" anchor="t" lIns="0" rIns="0" tIns="0" bIns="0">
            <a:noAutofit/>
          </a:bodyPr>
          <a:lstStyle/>
          <a:p>
            <a:pPr algn="l">
              <a:lnSpc>
                <a:spcPct val="130000"/>
              </a:lnSpc>
            </a:pPr>
            <a:r>
              <a:rPr sz="1150" b="0" i="0">
                <a:solidFill>
                  <a:srgbClr val="6B6B6B"/>
                </a:solidFill>
                <a:latin typeface="Calibri"/>
              </a:rPr>
              <a:t>Se evaluaron Power BI, Tableau, Streamlit y Dash. Se optó por un archivo HTML único con Plotly porque es el </a:t>
            </a:r>
            <a:r>
              <a:rPr sz="1150" b="1" i="0">
                <a:solidFill>
                  <a:srgbClr val="1A1818"/>
                </a:solidFill>
                <a:latin typeface="Calibri"/>
              </a:rPr>
              <a:t>único formato que cualquier destinatario puede abrir sin licencia, sin instalación y sin levantar un servidor</a:t>
            </a:r>
            <a:r>
              <a:rPr sz="1150" b="0" i="0">
                <a:solidFill>
                  <a:srgbClr val="6B6B6B"/>
                </a:solidFill>
                <a:latin typeface="Calibri"/>
              </a:rPr>
              <a:t>. Los 30.904 registros se embeben en el archivo: el filtrado ocurre en el navegador y funciona sin conexión.</a:t>
            </a:r>
          </a:p>
        </p:txBody>
      </p:sp>
      <p:sp>
        <p:nvSpPr>
          <p:cNvPr id="16" name="TextBox 15"/>
          <p:cNvSpPr txBox="1"/>
          <p:nvPr/>
        </p:nvSpPr>
        <p:spPr>
          <a:xfrm>
            <a:off x="6324447" y="4663440"/>
            <a:ext cx="5364327" cy="1371600"/>
          </a:xfrm>
          <a:prstGeom prst="rect">
            <a:avLst/>
          </a:prstGeom>
          <a:noFill/>
        </p:spPr>
        <p:txBody>
          <a:bodyPr wrap="square" anchor="t" lIns="0" rIns="0" tIns="0" bIns="0">
            <a:noAutofit/>
          </a:bodyPr>
          <a:lstStyle/>
          <a:p>
            <a:pPr algn="l">
              <a:lnSpc>
                <a:spcPct val="130000"/>
              </a:lnSpc>
            </a:pPr>
            <a:r>
              <a:rPr sz="1150" b="0" i="0">
                <a:solidFill>
                  <a:srgbClr val="6B6B6B"/>
                </a:solidFill>
                <a:latin typeface="Calibri"/>
              </a:rPr>
              <a:t>Todo el proyecto se construyó en Python: </a:t>
            </a:r>
            <a:r>
              <a:rPr sz="1150" b="1" i="0">
                <a:solidFill>
                  <a:srgbClr val="1A1818"/>
                </a:solidFill>
                <a:latin typeface="Calibri"/>
              </a:rPr>
              <a:t>Matplotlib</a:t>
            </a:r>
            <a:r>
              <a:rPr sz="1150" b="0" i="0">
                <a:solidFill>
                  <a:srgbClr val="6B6B6B"/>
                </a:solidFill>
                <a:latin typeface="Calibri"/>
              </a:rPr>
              <a:t> para las 12 figuras estáticas del informe y </a:t>
            </a:r>
            <a:r>
              <a:rPr sz="1150" b="1" i="0">
                <a:solidFill>
                  <a:srgbClr val="1A1818"/>
                </a:solidFill>
                <a:latin typeface="Calibri"/>
              </a:rPr>
              <a:t>Plotly</a:t>
            </a:r>
            <a:r>
              <a:rPr sz="1150" b="0" i="0">
                <a:solidFill>
                  <a:srgbClr val="6B6B6B"/>
                </a:solidFill>
                <a:latin typeface="Calibri"/>
              </a:rPr>
              <a:t> para este dashboard, ambos gobernados por el mismo módulo de estilo: quien pasa del documento al tablero reconoce los mismos gráficos, ahora explorables.</a:t>
            </a:r>
          </a:p>
        </p:txBody>
      </p:sp>
      <p:sp>
        <p:nvSpPr>
          <p:cNvPr id="17" name="TextBox 16"/>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8" name="TextBox 17"/>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EVALUACIÓN CRÍTICA</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Qué sostiene esta solución y qué no puede afirmar</a:t>
            </a:r>
          </a:p>
        </p:txBody>
      </p:sp>
      <p:sp>
        <p:nvSpPr>
          <p:cNvPr id="5" name="TextBox 4"/>
          <p:cNvSpPr txBox="1"/>
          <p:nvPr/>
        </p:nvSpPr>
        <p:spPr>
          <a:xfrm>
            <a:off x="502920" y="1920240"/>
            <a:ext cx="5364327" cy="365760"/>
          </a:xfrm>
          <a:prstGeom prst="rect">
            <a:avLst/>
          </a:prstGeom>
          <a:noFill/>
        </p:spPr>
        <p:txBody>
          <a:bodyPr wrap="square" anchor="t" lIns="0" rIns="0" tIns="0" bIns="0">
            <a:noAutofit/>
          </a:bodyPr>
          <a:lstStyle/>
          <a:p>
            <a:pPr algn="l">
              <a:lnSpc>
                <a:spcPct val="100000"/>
              </a:lnSpc>
            </a:pPr>
            <a:r>
              <a:rPr sz="1500" b="1" i="0">
                <a:solidFill>
                  <a:srgbClr val="009E73"/>
                </a:solidFill>
                <a:latin typeface="Cambria"/>
              </a:rPr>
              <a:t>Fortalezas</a:t>
            </a:r>
          </a:p>
        </p:txBody>
      </p:sp>
      <p:sp>
        <p:nvSpPr>
          <p:cNvPr id="6" name="Rectangle 5"/>
          <p:cNvSpPr/>
          <p:nvPr/>
        </p:nvSpPr>
        <p:spPr>
          <a:xfrm>
            <a:off x="502920" y="2423160"/>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395728"/>
            <a:ext cx="5144871" cy="749808"/>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Hallazgo robusto</a:t>
            </a:r>
          </a:p>
          <a:p>
            <a:pPr algn="l">
              <a:lnSpc>
                <a:spcPct val="112000"/>
              </a:lnSpc>
            </a:pPr>
            <a:r>
              <a:rPr sz="1150" b="0" i="0">
                <a:solidFill>
                  <a:srgbClr val="1A1818"/>
                </a:solidFill>
                <a:latin typeface="Calibri"/>
              </a:rPr>
              <a:t>Se sostiene sobre 15.397 títulos y se mantiene al segmentar por formato, género y año.</a:t>
            </a:r>
          </a:p>
        </p:txBody>
      </p:sp>
      <p:sp>
        <p:nvSpPr>
          <p:cNvPr id="8" name="Rectangle 7"/>
          <p:cNvSpPr/>
          <p:nvPr/>
        </p:nvSpPr>
        <p:spPr>
          <a:xfrm>
            <a:off x="502920" y="3300984"/>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3273552"/>
            <a:ext cx="5144871" cy="749808"/>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Trazabilidad completa</a:t>
            </a:r>
          </a:p>
          <a:p>
            <a:pPr algn="l">
              <a:lnSpc>
                <a:spcPct val="112000"/>
              </a:lnSpc>
            </a:pPr>
            <a:r>
              <a:rPr sz="1150" b="0" i="0">
                <a:solidFill>
                  <a:srgbClr val="1A1818"/>
                </a:solidFill>
                <a:latin typeface="Calibri"/>
              </a:rPr>
              <a:t>Reproducible desde los archivos originales; las cifras se generan, no se transcriben.</a:t>
            </a:r>
          </a:p>
        </p:txBody>
      </p:sp>
      <p:sp>
        <p:nvSpPr>
          <p:cNvPr id="10" name="Rectangle 9"/>
          <p:cNvSpPr/>
          <p:nvPr/>
        </p:nvSpPr>
        <p:spPr>
          <a:xfrm>
            <a:off x="502920" y="4178808"/>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4151376"/>
            <a:ext cx="5144871" cy="530352"/>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Calidad de datos explícita</a:t>
            </a:r>
          </a:p>
          <a:p>
            <a:pPr algn="l">
              <a:lnSpc>
                <a:spcPct val="112000"/>
              </a:lnSpc>
            </a:pPr>
            <a:r>
              <a:rPr sz="1150" b="0" i="0">
                <a:solidFill>
                  <a:srgbClr val="1A1818"/>
                </a:solidFill>
                <a:latin typeface="Calibri"/>
              </a:rPr>
              <a:t>Ocho problemas detectados y documentados antes de analizar.</a:t>
            </a:r>
          </a:p>
        </p:txBody>
      </p:sp>
      <p:sp>
        <p:nvSpPr>
          <p:cNvPr id="12" name="TextBox 11"/>
          <p:cNvSpPr txBox="1"/>
          <p:nvPr/>
        </p:nvSpPr>
        <p:spPr>
          <a:xfrm>
            <a:off x="6324447" y="1920240"/>
            <a:ext cx="5364327" cy="365760"/>
          </a:xfrm>
          <a:prstGeom prst="rect">
            <a:avLst/>
          </a:prstGeom>
          <a:noFill/>
        </p:spPr>
        <p:txBody>
          <a:bodyPr wrap="square" anchor="t" lIns="0" rIns="0" tIns="0" bIns="0">
            <a:noAutofit/>
          </a:bodyPr>
          <a:lstStyle/>
          <a:p>
            <a:pPr algn="l">
              <a:lnSpc>
                <a:spcPct val="100000"/>
              </a:lnSpc>
            </a:pPr>
            <a:r>
              <a:rPr sz="1500" b="1" i="0">
                <a:solidFill>
                  <a:srgbClr val="E69F00"/>
                </a:solidFill>
                <a:latin typeface="Cambria"/>
              </a:rPr>
              <a:t>Limitaciones</a:t>
            </a:r>
          </a:p>
        </p:txBody>
      </p:sp>
      <p:sp>
        <p:nvSpPr>
          <p:cNvPr id="13" name="Rectangle 12"/>
          <p:cNvSpPr/>
          <p:nvPr/>
        </p:nvSpPr>
        <p:spPr>
          <a:xfrm>
            <a:off x="6324447" y="2423160"/>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3903" y="2395728"/>
            <a:ext cx="5144871" cy="969264"/>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Sin datos de usuarios</a:t>
            </a:r>
          </a:p>
          <a:p>
            <a:pPr algn="l">
              <a:lnSpc>
                <a:spcPct val="112000"/>
              </a:lnSpc>
            </a:pPr>
            <a:r>
              <a:rPr sz="1150" b="0" i="0">
                <a:solidFill>
                  <a:srgbClr val="1A1818"/>
                </a:solidFill>
                <a:latin typeface="Calibri"/>
              </a:rPr>
              <a:t>No hay reproducciones, suscripciones ni cancelaciones: no podemos medir retención ni engagement reales. Usamos popularidad como aproximación de atención.</a:t>
            </a:r>
          </a:p>
        </p:txBody>
      </p:sp>
      <p:sp>
        <p:nvSpPr>
          <p:cNvPr id="15" name="Rectangle 14"/>
          <p:cNvSpPr/>
          <p:nvPr/>
        </p:nvSpPr>
        <p:spPr>
          <a:xfrm>
            <a:off x="6324447" y="3520440"/>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3903" y="3493008"/>
            <a:ext cx="5144871" cy="749808"/>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Cobertura financiera parcial</a:t>
            </a:r>
          </a:p>
          <a:p>
            <a:pPr algn="l">
              <a:lnSpc>
                <a:spcPct val="112000"/>
              </a:lnSpc>
            </a:pPr>
            <a:r>
              <a:rPr sz="1150" b="0" i="0">
                <a:solidFill>
                  <a:srgbClr val="1A1818"/>
                </a:solidFill>
                <a:latin typeface="Calibri"/>
              </a:rPr>
              <a:t>Solo 22,0% de las películas informa presupuesto e ingresos, probablemente las de mayor circulación.</a:t>
            </a:r>
          </a:p>
        </p:txBody>
      </p:sp>
      <p:sp>
        <p:nvSpPr>
          <p:cNvPr id="17" name="Rectangle 16"/>
          <p:cNvSpPr/>
          <p:nvPr/>
        </p:nvSpPr>
        <p:spPr>
          <a:xfrm>
            <a:off x="6324447" y="4398264"/>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3903" y="4370832"/>
            <a:ext cx="5144871" cy="749808"/>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Calificaciones externas</a:t>
            </a:r>
          </a:p>
          <a:p>
            <a:pPr algn="l">
              <a:lnSpc>
                <a:spcPct val="112000"/>
              </a:lnSpc>
            </a:pPr>
            <a:r>
              <a:rPr sz="1150" b="0" i="0">
                <a:solidFill>
                  <a:srgbClr val="1A1818"/>
                </a:solidFill>
                <a:latin typeface="Calibri"/>
              </a:rPr>
              <a:t>Provienen de una comunidad que no equivale a la base de suscriptores.</a:t>
            </a:r>
          </a:p>
        </p:txBody>
      </p:sp>
      <p:sp>
        <p:nvSpPr>
          <p:cNvPr id="19" name="Rectangle 18"/>
          <p:cNvSpPr/>
          <p:nvPr/>
        </p:nvSpPr>
        <p:spPr>
          <a:xfrm>
            <a:off x="6324447" y="5276088"/>
            <a:ext cx="91440" cy="91440"/>
          </a:xfrm>
          <a:prstGeom prst="rect">
            <a:avLst/>
          </a:prstGeom>
          <a:solidFill>
            <a:srgbClr val="E50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43903" y="5248656"/>
            <a:ext cx="5144871" cy="749808"/>
          </a:xfrm>
          <a:prstGeom prst="rect">
            <a:avLst/>
          </a:prstGeom>
          <a:noFill/>
        </p:spPr>
        <p:txBody>
          <a:bodyPr wrap="square" anchor="t" lIns="0" rIns="0" tIns="0" bIns="0">
            <a:noAutofit/>
          </a:bodyPr>
          <a:lstStyle/>
          <a:p>
            <a:pPr algn="l">
              <a:spcAft>
                <a:spcPts val="200"/>
              </a:spcAft>
            </a:pPr>
            <a:r>
              <a:rPr sz="1200" b="1" i="0">
                <a:solidFill>
                  <a:srgbClr val="1A1818"/>
                </a:solidFill>
                <a:latin typeface="Calibri"/>
              </a:rPr>
              <a:t>El umbral de votos sesga la muestra</a:t>
            </a:r>
          </a:p>
          <a:p>
            <a:pPr algn="l">
              <a:lnSpc>
                <a:spcPct val="112000"/>
              </a:lnSpc>
            </a:pPr>
            <a:r>
              <a:rPr sz="1150" b="0" i="0">
                <a:solidFill>
                  <a:srgbClr val="1A1818"/>
                </a:solidFill>
                <a:latin typeface="Calibri"/>
              </a:rPr>
              <a:t>Lo supera el 80,7% de las películas pero solo el 26,1% de las series.</a:t>
            </a:r>
          </a:p>
        </p:txBody>
      </p:sp>
      <p:sp>
        <p:nvSpPr>
          <p:cNvPr id="21" name="TextBox 20"/>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22" name="TextBox 21"/>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DE HALLAZGOS A DECISIONES COMERCIALES</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100" b="1" i="0">
                <a:solidFill>
                  <a:srgbClr val="1A1818"/>
                </a:solidFill>
                <a:latin typeface="Cambria"/>
              </a:rPr>
              <a:t>Tres palancas para atraer y retener, sin tocar presupuesto de contenido</a:t>
            </a:r>
          </a:p>
        </p:txBody>
      </p:sp>
      <p:sp>
        <p:nvSpPr>
          <p:cNvPr id="5" name="Rectangle 4"/>
          <p:cNvSpPr/>
          <p:nvPr/>
        </p:nvSpPr>
        <p:spPr>
          <a:xfrm>
            <a:off x="502920" y="1965960"/>
            <a:ext cx="3515258" cy="356616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2093976"/>
            <a:ext cx="3186074"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1 · Joyas Ocultas</a:t>
            </a:r>
          </a:p>
        </p:txBody>
      </p:sp>
      <p:sp>
        <p:nvSpPr>
          <p:cNvPr id="7" name="TextBox 6"/>
          <p:cNvSpPr txBox="1"/>
          <p:nvPr/>
        </p:nvSpPr>
        <p:spPr>
          <a:xfrm>
            <a:off x="667512" y="2386584"/>
            <a:ext cx="3186074" cy="457200"/>
          </a:xfrm>
          <a:prstGeom prst="rect">
            <a:avLst/>
          </a:prstGeom>
          <a:noFill/>
        </p:spPr>
        <p:txBody>
          <a:bodyPr wrap="square" anchor="t" lIns="0" rIns="0" tIns="0" bIns="0">
            <a:noAutofit/>
          </a:bodyPr>
          <a:lstStyle/>
          <a:p>
            <a:pPr algn="l">
              <a:lnSpc>
                <a:spcPct val="100000"/>
              </a:lnSpc>
            </a:pPr>
            <a:r>
              <a:rPr sz="3200" b="1" i="0">
                <a:solidFill>
                  <a:srgbClr val="009E73"/>
                </a:solidFill>
                <a:latin typeface="Cambria"/>
              </a:rPr>
              <a:t>3.222</a:t>
            </a:r>
          </a:p>
        </p:txBody>
      </p:sp>
      <p:sp>
        <p:nvSpPr>
          <p:cNvPr id="8" name="TextBox 7"/>
          <p:cNvSpPr txBox="1"/>
          <p:nvPr/>
        </p:nvSpPr>
        <p:spPr>
          <a:xfrm>
            <a:off x="667512" y="2898648"/>
            <a:ext cx="3186074" cy="2523745"/>
          </a:xfrm>
          <a:prstGeom prst="rect">
            <a:avLst/>
          </a:prstGeom>
          <a:noFill/>
        </p:spPr>
        <p:txBody>
          <a:bodyPr wrap="square" anchor="t" lIns="0" rIns="0" tIns="0" bIns="0">
            <a:noAutofit/>
          </a:bodyPr>
          <a:lstStyle/>
          <a:p>
            <a:pPr algn="l">
              <a:lnSpc>
                <a:spcPct val="125000"/>
              </a:lnSpc>
              <a:spcAft>
                <a:spcPts val="600"/>
              </a:spcAft>
            </a:pPr>
            <a:r>
              <a:rPr sz="1050" b="1" i="0">
                <a:solidFill>
                  <a:srgbClr val="1A1818"/>
                </a:solidFill>
                <a:latin typeface="Calibri"/>
              </a:rPr>
              <a:t>Hallazgo: </a:t>
            </a:r>
            <a:r>
              <a:rPr sz="1050" b="0" i="0">
                <a:solidFill>
                  <a:srgbClr val="6B6B6B"/>
                </a:solidFill>
                <a:latin typeface="Calibri"/>
              </a:rPr>
              <a:t>títulos ya en catálogo, bien evaluados, con baja visibilidad.</a:t>
            </a:r>
          </a:p>
          <a:p>
            <a:pPr algn="l">
              <a:lnSpc>
                <a:spcPct val="125000"/>
              </a:lnSpc>
              <a:spcAft>
                <a:spcPts val="600"/>
              </a:spcAft>
            </a:pPr>
            <a:r>
              <a:rPr sz="1050" b="1" i="0">
                <a:solidFill>
                  <a:srgbClr val="1A1818"/>
                </a:solidFill>
                <a:latin typeface="Calibri"/>
              </a:rPr>
              <a:t>Atracción: </a:t>
            </a:r>
            <a:r>
              <a:rPr sz="1050" b="0" i="0">
                <a:solidFill>
                  <a:srgbClr val="6B6B6B"/>
                </a:solidFill>
                <a:latin typeface="Calibri"/>
              </a:rPr>
              <a:t>marketing editorial de nicho.</a:t>
            </a:r>
          </a:p>
          <a:p>
            <a:pPr algn="l">
              <a:lnSpc>
                <a:spcPct val="125000"/>
              </a:lnSpc>
              <a:spcAft>
                <a:spcPts val="600"/>
              </a:spcAft>
            </a:pPr>
            <a:r>
              <a:rPr sz="1050" b="1" i="0">
                <a:solidFill>
                  <a:srgbClr val="1A1818"/>
                </a:solidFill>
                <a:latin typeface="Calibri"/>
              </a:rPr>
              <a:t>Retención: </a:t>
            </a:r>
            <a:r>
              <a:rPr sz="1050" b="0" i="0">
                <a:solidFill>
                  <a:srgbClr val="6B6B6B"/>
                </a:solidFill>
                <a:latin typeface="Calibri"/>
              </a:rPr>
              <a:t>fila fija de descubrimiento.</a:t>
            </a:r>
          </a:p>
          <a:p>
            <a:pPr algn="l">
              <a:lnSpc>
                <a:spcPct val="125000"/>
              </a:lnSpc>
            </a:pPr>
            <a:r>
              <a:rPr sz="1050" b="1" i="0">
                <a:solidFill>
                  <a:srgbClr val="1A1818"/>
                </a:solidFill>
                <a:latin typeface="Calibri"/>
              </a:rPr>
              <a:t>KPI: </a:t>
            </a:r>
            <a:r>
              <a:rPr sz="1050" b="0" i="0">
                <a:solidFill>
                  <a:srgbClr val="6B6B6B"/>
                </a:solidFill>
                <a:latin typeface="Calibri"/>
              </a:rPr>
              <a:t>% de usuarios que los consumen al mes.</a:t>
            </a:r>
          </a:p>
        </p:txBody>
      </p:sp>
      <p:sp>
        <p:nvSpPr>
          <p:cNvPr id="9" name="Rectangle 8"/>
          <p:cNvSpPr/>
          <p:nvPr/>
        </p:nvSpPr>
        <p:spPr>
          <a:xfrm>
            <a:off x="4338218" y="1965960"/>
            <a:ext cx="3515258" cy="356616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810" y="2093976"/>
            <a:ext cx="3186074"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2 · Momentum por Género</a:t>
            </a:r>
          </a:p>
        </p:txBody>
      </p:sp>
      <p:sp>
        <p:nvSpPr>
          <p:cNvPr id="11" name="TextBox 10"/>
          <p:cNvSpPr txBox="1"/>
          <p:nvPr/>
        </p:nvSpPr>
        <p:spPr>
          <a:xfrm>
            <a:off x="4502810" y="2386584"/>
            <a:ext cx="3186074" cy="457200"/>
          </a:xfrm>
          <a:prstGeom prst="rect">
            <a:avLst/>
          </a:prstGeom>
          <a:noFill/>
        </p:spPr>
        <p:txBody>
          <a:bodyPr wrap="square" anchor="t" lIns="0" rIns="0" tIns="0" bIns="0">
            <a:noAutofit/>
          </a:bodyPr>
          <a:lstStyle/>
          <a:p>
            <a:pPr algn="l">
              <a:lnSpc>
                <a:spcPct val="100000"/>
              </a:lnSpc>
            </a:pPr>
            <a:r>
              <a:rPr sz="3200" b="1" i="0">
                <a:solidFill>
                  <a:srgbClr val="E50914"/>
                </a:solidFill>
                <a:latin typeface="Cambria"/>
              </a:rPr>
              <a:t>+94%</a:t>
            </a:r>
          </a:p>
        </p:txBody>
      </p:sp>
      <p:sp>
        <p:nvSpPr>
          <p:cNvPr id="12" name="TextBox 11"/>
          <p:cNvSpPr txBox="1"/>
          <p:nvPr/>
        </p:nvSpPr>
        <p:spPr>
          <a:xfrm>
            <a:off x="4502810" y="2898648"/>
            <a:ext cx="3186074" cy="2523745"/>
          </a:xfrm>
          <a:prstGeom prst="rect">
            <a:avLst/>
          </a:prstGeom>
          <a:noFill/>
        </p:spPr>
        <p:txBody>
          <a:bodyPr wrap="square" anchor="t" lIns="0" rIns="0" tIns="0" bIns="0">
            <a:noAutofit/>
          </a:bodyPr>
          <a:lstStyle/>
          <a:p>
            <a:pPr algn="l">
              <a:lnSpc>
                <a:spcPct val="125000"/>
              </a:lnSpc>
              <a:spcAft>
                <a:spcPts val="600"/>
              </a:spcAft>
            </a:pPr>
            <a:r>
              <a:rPr sz="1050" b="1" i="0">
                <a:solidFill>
                  <a:srgbClr val="1A1818"/>
                </a:solidFill>
                <a:latin typeface="Calibri"/>
              </a:rPr>
              <a:t>Hallazgo: </a:t>
            </a:r>
            <a:r>
              <a:rPr sz="1050" b="0" i="0">
                <a:solidFill>
                  <a:srgbClr val="6B6B6B"/>
                </a:solidFill>
                <a:latin typeface="Calibri"/>
              </a:rPr>
              <a:t>rotación real de interés entre géneros (no crecimiento agregado).</a:t>
            </a:r>
          </a:p>
          <a:p>
            <a:pPr algn="l">
              <a:lnSpc>
                <a:spcPct val="125000"/>
              </a:lnSpc>
              <a:spcAft>
                <a:spcPts val="600"/>
              </a:spcAft>
            </a:pPr>
            <a:r>
              <a:rPr sz="1050" b="1" i="0">
                <a:solidFill>
                  <a:srgbClr val="1A1818"/>
                </a:solidFill>
                <a:latin typeface="Calibri"/>
              </a:rPr>
              <a:t>Atracción: </a:t>
            </a:r>
            <a:r>
              <a:rPr sz="1050" b="0" i="0">
                <a:solidFill>
                  <a:srgbClr val="6B6B6B"/>
                </a:solidFill>
                <a:latin typeface="Calibri"/>
              </a:rPr>
              <a:t>campañas segmentadas por género en alza.</a:t>
            </a:r>
          </a:p>
          <a:p>
            <a:pPr algn="l">
              <a:lnSpc>
                <a:spcPct val="125000"/>
              </a:lnSpc>
              <a:spcAft>
                <a:spcPts val="600"/>
              </a:spcAft>
            </a:pPr>
            <a:r>
              <a:rPr sz="1050" b="1" i="0">
                <a:solidFill>
                  <a:srgbClr val="1A1818"/>
                </a:solidFill>
                <a:latin typeface="Calibri"/>
              </a:rPr>
              <a:t>Retención: </a:t>
            </a:r>
            <a:r>
              <a:rPr sz="1050" b="0" i="0">
                <a:solidFill>
                  <a:srgbClr val="6B6B6B"/>
                </a:solidFill>
                <a:latin typeface="Calibri"/>
              </a:rPr>
              <a:t>onboarding anclado al género de entrada.</a:t>
            </a:r>
          </a:p>
          <a:p>
            <a:pPr algn="l">
              <a:lnSpc>
                <a:spcPct val="125000"/>
              </a:lnSpc>
            </a:pPr>
            <a:r>
              <a:rPr sz="1050" b="1" i="0">
                <a:solidFill>
                  <a:srgbClr val="1A1818"/>
                </a:solidFill>
                <a:latin typeface="Calibri"/>
              </a:rPr>
              <a:t>KPI: </a:t>
            </a:r>
            <a:r>
              <a:rPr sz="1050" b="0" i="0">
                <a:solidFill>
                  <a:srgbClr val="6B6B6B"/>
                </a:solidFill>
                <a:latin typeface="Calibri"/>
              </a:rPr>
              <a:t>variación trimestral de popularidad por género.</a:t>
            </a:r>
          </a:p>
        </p:txBody>
      </p:sp>
      <p:sp>
        <p:nvSpPr>
          <p:cNvPr id="13" name="Rectangle 12"/>
          <p:cNvSpPr/>
          <p:nvPr/>
        </p:nvSpPr>
        <p:spPr>
          <a:xfrm>
            <a:off x="8173516" y="1965960"/>
            <a:ext cx="3515258" cy="3566160"/>
          </a:xfrm>
          <a:prstGeom prst="rect">
            <a:avLst/>
          </a:prstGeom>
          <a:solidFill>
            <a:srgbClr val="FA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8108" y="2093976"/>
            <a:ext cx="3186074" cy="274320"/>
          </a:xfrm>
          <a:prstGeom prst="rect">
            <a:avLst/>
          </a:prstGeom>
          <a:noFill/>
        </p:spPr>
        <p:txBody>
          <a:bodyPr wrap="square" anchor="t" lIns="0" rIns="0" tIns="0" bIns="0">
            <a:noAutofit/>
          </a:bodyPr>
          <a:lstStyle/>
          <a:p>
            <a:pPr algn="l">
              <a:lnSpc>
                <a:spcPct val="100000"/>
              </a:lnSpc>
            </a:pPr>
            <a:r>
              <a:rPr sz="1150" b="1" i="0">
                <a:solidFill>
                  <a:srgbClr val="1A1818"/>
                </a:solidFill>
                <a:latin typeface="Calibri"/>
              </a:rPr>
              <a:t>3 · Series como Ancla</a:t>
            </a:r>
          </a:p>
        </p:txBody>
      </p:sp>
      <p:sp>
        <p:nvSpPr>
          <p:cNvPr id="15" name="TextBox 14"/>
          <p:cNvSpPr txBox="1"/>
          <p:nvPr/>
        </p:nvSpPr>
        <p:spPr>
          <a:xfrm>
            <a:off x="8338108" y="2386584"/>
            <a:ext cx="3186074" cy="457200"/>
          </a:xfrm>
          <a:prstGeom prst="rect">
            <a:avLst/>
          </a:prstGeom>
          <a:noFill/>
        </p:spPr>
        <p:txBody>
          <a:bodyPr wrap="square" anchor="t" lIns="0" rIns="0" tIns="0" bIns="0">
            <a:noAutofit/>
          </a:bodyPr>
          <a:lstStyle/>
          <a:p>
            <a:pPr algn="l">
              <a:lnSpc>
                <a:spcPct val="100000"/>
              </a:lnSpc>
            </a:pPr>
            <a:r>
              <a:rPr sz="3200" b="1" i="0">
                <a:solidFill>
                  <a:srgbClr val="0072B2"/>
                </a:solidFill>
                <a:latin typeface="Cambria"/>
              </a:rPr>
              <a:t>+1,13</a:t>
            </a:r>
          </a:p>
        </p:txBody>
      </p:sp>
      <p:sp>
        <p:nvSpPr>
          <p:cNvPr id="16" name="TextBox 15"/>
          <p:cNvSpPr txBox="1"/>
          <p:nvPr/>
        </p:nvSpPr>
        <p:spPr>
          <a:xfrm>
            <a:off x="8338108" y="2898648"/>
            <a:ext cx="3186074" cy="2523745"/>
          </a:xfrm>
          <a:prstGeom prst="rect">
            <a:avLst/>
          </a:prstGeom>
          <a:noFill/>
        </p:spPr>
        <p:txBody>
          <a:bodyPr wrap="square" anchor="t" lIns="0" rIns="0" tIns="0" bIns="0">
            <a:noAutofit/>
          </a:bodyPr>
          <a:lstStyle/>
          <a:p>
            <a:pPr algn="l">
              <a:lnSpc>
                <a:spcPct val="125000"/>
              </a:lnSpc>
              <a:spcAft>
                <a:spcPts val="600"/>
              </a:spcAft>
            </a:pPr>
            <a:r>
              <a:rPr sz="1050" b="1" i="0">
                <a:solidFill>
                  <a:srgbClr val="1A1818"/>
                </a:solidFill>
                <a:latin typeface="Calibri"/>
              </a:rPr>
              <a:t>Hallazgo: </a:t>
            </a:r>
            <a:r>
              <a:rPr sz="1050" b="0" i="0">
                <a:solidFill>
                  <a:srgbClr val="6B6B6B"/>
                </a:solidFill>
                <a:latin typeface="Calibri"/>
              </a:rPr>
              <a:t>ventaja estructural de series sobre películas, 16 años sin excepción.</a:t>
            </a:r>
          </a:p>
          <a:p>
            <a:pPr algn="l">
              <a:lnSpc>
                <a:spcPct val="125000"/>
              </a:lnSpc>
              <a:spcAft>
                <a:spcPts val="600"/>
              </a:spcAft>
            </a:pPr>
            <a:r>
              <a:rPr sz="1050" b="1" i="0">
                <a:solidFill>
                  <a:srgbClr val="1A1818"/>
                </a:solidFill>
                <a:latin typeface="Calibri"/>
              </a:rPr>
              <a:t>Atracción: </a:t>
            </a:r>
            <a:r>
              <a:rPr sz="1050" b="0" i="0">
                <a:solidFill>
                  <a:srgbClr val="6B6B6B"/>
                </a:solidFill>
                <a:latin typeface="Calibri"/>
              </a:rPr>
              <a:t>primer episodio gratuito.</a:t>
            </a:r>
          </a:p>
          <a:p>
            <a:pPr algn="l">
              <a:lnSpc>
                <a:spcPct val="125000"/>
              </a:lnSpc>
              <a:spcAft>
                <a:spcPts val="600"/>
              </a:spcAft>
            </a:pPr>
            <a:r>
              <a:rPr sz="1050" b="1" i="0">
                <a:solidFill>
                  <a:srgbClr val="1A1818"/>
                </a:solidFill>
                <a:latin typeface="Calibri"/>
              </a:rPr>
              <a:t>Retención: </a:t>
            </a:r>
            <a:r>
              <a:rPr sz="1050" b="0" i="0">
                <a:solidFill>
                  <a:srgbClr val="6B6B6B"/>
                </a:solidFill>
                <a:latin typeface="Calibri"/>
              </a:rPr>
              <a:t>hábito de consumo episódico.</a:t>
            </a:r>
          </a:p>
          <a:p>
            <a:pPr algn="l">
              <a:lnSpc>
                <a:spcPct val="125000"/>
              </a:lnSpc>
            </a:pPr>
            <a:r>
              <a:rPr sz="1050" b="1" i="0">
                <a:solidFill>
                  <a:srgbClr val="1A1818"/>
                </a:solidFill>
                <a:latin typeface="Calibri"/>
              </a:rPr>
              <a:t>KPI: </a:t>
            </a:r>
            <a:r>
              <a:rPr sz="1050" b="0" i="0">
                <a:solidFill>
                  <a:srgbClr val="6B6B6B"/>
                </a:solidFill>
                <a:latin typeface="Calibri"/>
              </a:rPr>
              <a:t>retorno semanal y episodios en 7 días.</a:t>
            </a:r>
          </a:p>
        </p:txBody>
      </p:sp>
      <p:sp>
        <p:nvSpPr>
          <p:cNvPr id="17" name="TextBox 16"/>
          <p:cNvSpPr txBox="1"/>
          <p:nvPr/>
        </p:nvSpPr>
        <p:spPr>
          <a:xfrm>
            <a:off x="502920" y="5760720"/>
            <a:ext cx="11185855" cy="457200"/>
          </a:xfrm>
          <a:prstGeom prst="rect">
            <a:avLst/>
          </a:prstGeom>
          <a:noFill/>
        </p:spPr>
        <p:txBody>
          <a:bodyPr wrap="square" anchor="t" lIns="0" rIns="0" tIns="0" bIns="0">
            <a:noAutofit/>
          </a:bodyPr>
          <a:lstStyle/>
          <a:p>
            <a:pPr algn="l">
              <a:lnSpc>
                <a:spcPct val="125000"/>
              </a:lnSpc>
            </a:pPr>
            <a:r>
              <a:rPr sz="1050" b="0" i="0">
                <a:solidFill>
                  <a:srgbClr val="6B6B6B"/>
                </a:solidFill>
                <a:latin typeface="Calibri"/>
              </a:rPr>
              <a:t>Ninguna propuesta usa variables financieras: las tres se apoyan solo en popularidad, calificación, votos, género, formato y año — las mismas variables que sostienen el resto de este análisis.</a:t>
            </a:r>
          </a:p>
        </p:txBody>
      </p:sp>
      <p:sp>
        <p:nvSpPr>
          <p:cNvPr id="18" name="TextBox 17"/>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9" name="TextBox 18"/>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PROPUESTA PRIORITARIA</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200" b="1" i="0">
                <a:solidFill>
                  <a:srgbClr val="1A1818"/>
                </a:solidFill>
                <a:latin typeface="Cambria"/>
              </a:rPr>
              <a:t>Programa Joyas Ocultas: el contenido ya está pagado, falta exponerlo</a:t>
            </a:r>
          </a:p>
        </p:txBody>
      </p:sp>
      <p:pic>
        <p:nvPicPr>
          <p:cNvPr id="5" name="Picture 4" descr="11_joyas_ocultas.png"/>
          <p:cNvPicPr>
            <a:picLocks noChangeAspect="1"/>
          </p:cNvPicPr>
          <p:nvPr/>
        </p:nvPicPr>
        <p:blipFill>
          <a:blip r:embed="rId2"/>
          <a:stretch>
            <a:fillRect/>
          </a:stretch>
        </p:blipFill>
        <p:spPr>
          <a:xfrm>
            <a:off x="502920" y="1992747"/>
            <a:ext cx="6858000" cy="3759474"/>
          </a:xfrm>
          <a:prstGeom prst="rect">
            <a:avLst/>
          </a:prstGeom>
        </p:spPr>
      </p:pic>
      <p:sp>
        <p:nvSpPr>
          <p:cNvPr id="6" name="Rectangle 5"/>
          <p:cNvSpPr/>
          <p:nvPr/>
        </p:nvSpPr>
        <p:spPr>
          <a:xfrm>
            <a:off x="7680960" y="1481328"/>
            <a:ext cx="4007815" cy="36576"/>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0" y="1572768"/>
            <a:ext cx="4007815" cy="502920"/>
          </a:xfrm>
          <a:prstGeom prst="rect">
            <a:avLst/>
          </a:prstGeom>
          <a:noFill/>
        </p:spPr>
        <p:txBody>
          <a:bodyPr wrap="square" anchor="t" lIns="0" rIns="0" tIns="0" bIns="0">
            <a:noAutofit/>
          </a:bodyPr>
          <a:lstStyle/>
          <a:p>
            <a:pPr algn="l">
              <a:lnSpc>
                <a:spcPct val="100000"/>
              </a:lnSpc>
            </a:pPr>
            <a:r>
              <a:rPr sz="2800" b="1" i="0">
                <a:solidFill>
                  <a:srgbClr val="009E73"/>
                </a:solidFill>
                <a:latin typeface="Cambria"/>
              </a:rPr>
              <a:t>20,9%</a:t>
            </a:r>
          </a:p>
        </p:txBody>
      </p:sp>
      <p:sp>
        <p:nvSpPr>
          <p:cNvPr id="8" name="TextBox 7"/>
          <p:cNvSpPr txBox="1"/>
          <p:nvPr/>
        </p:nvSpPr>
        <p:spPr>
          <a:xfrm>
            <a:off x="7680960" y="2103120"/>
            <a:ext cx="4007815" cy="502920"/>
          </a:xfrm>
          <a:prstGeom prst="rect">
            <a:avLst/>
          </a:prstGeom>
          <a:noFill/>
        </p:spPr>
        <p:txBody>
          <a:bodyPr wrap="square" anchor="t" lIns="0" rIns="0" tIns="0" bIns="0">
            <a:noAutofit/>
          </a:bodyPr>
          <a:lstStyle/>
          <a:p>
            <a:pPr algn="l">
              <a:lnSpc>
                <a:spcPct val="115000"/>
              </a:lnSpc>
            </a:pPr>
            <a:r>
              <a:rPr sz="1000" b="0" i="0">
                <a:solidFill>
                  <a:srgbClr val="6B6B6B"/>
                </a:solidFill>
                <a:latin typeface="Calibri"/>
              </a:rPr>
              <a:t>del catálogo evaluable: 2.569 películas y 653 series</a:t>
            </a:r>
          </a:p>
        </p:txBody>
      </p:sp>
      <p:sp>
        <p:nvSpPr>
          <p:cNvPr id="9" name="TextBox 8"/>
          <p:cNvSpPr txBox="1"/>
          <p:nvPr/>
        </p:nvSpPr>
        <p:spPr>
          <a:xfrm>
            <a:off x="7680960" y="2441448"/>
            <a:ext cx="4007815" cy="914400"/>
          </a:xfrm>
          <a:prstGeom prst="rect">
            <a:avLst/>
          </a:prstGeom>
          <a:noFill/>
        </p:spPr>
        <p:txBody>
          <a:bodyPr wrap="square" anchor="t" lIns="0" rIns="0" tIns="0" bIns="0">
            <a:noAutofit/>
          </a:bodyPr>
          <a:lstStyle/>
          <a:p>
            <a:pPr algn="l">
              <a:lnSpc>
                <a:spcPct val="130000"/>
              </a:lnSpc>
            </a:pPr>
            <a:r>
              <a:rPr sz="1050" b="0" i="0">
                <a:solidFill>
                  <a:srgbClr val="1A1818"/>
                </a:solidFill>
                <a:latin typeface="Calibri"/>
              </a:rPr>
              <a:t>Califican en promedio </a:t>
            </a:r>
            <a:r>
              <a:rPr sz="1050" b="1" i="0">
                <a:solidFill>
                  <a:srgbClr val="1A1818"/>
                </a:solidFill>
                <a:latin typeface="Calibri"/>
              </a:rPr>
              <a:t>7,03</a:t>
            </a:r>
            <a:r>
              <a:rPr sz="1050" b="0" i="0">
                <a:solidFill>
                  <a:srgbClr val="1A1818"/>
                </a:solidFill>
                <a:latin typeface="Calibri"/>
              </a:rPr>
              <a:t> (películas) y </a:t>
            </a:r>
            <a:r>
              <a:rPr sz="1050" b="1" i="0">
                <a:solidFill>
                  <a:srgbClr val="1A1818"/>
                </a:solidFill>
                <a:latin typeface="Calibri"/>
              </a:rPr>
              <a:t>7,99</a:t>
            </a:r>
            <a:r>
              <a:rPr sz="1050" b="0" i="0">
                <a:solidFill>
                  <a:srgbClr val="1A1818"/>
                </a:solidFill>
                <a:latin typeface="Calibri"/>
              </a:rPr>
              <a:t> (series) — por encima del resto del catálogo evaluable (6,22 y 7,40).</a:t>
            </a:r>
          </a:p>
        </p:txBody>
      </p:sp>
      <p:graphicFrame>
        <p:nvGraphicFramePr>
          <p:cNvPr id="10" name="Table 9"/>
          <p:cNvGraphicFramePr>
            <a:graphicFrameLocks noGrp="1"/>
          </p:cNvGraphicFramePr>
          <p:nvPr/>
        </p:nvGraphicFramePr>
        <p:xfrm>
          <a:off x="7680960" y="3447288"/>
          <a:ext cx="4007813" cy="1828800"/>
        </p:xfrm>
        <a:graphic>
          <a:graphicData uri="http://schemas.openxmlformats.org/drawingml/2006/table">
            <a:tbl>
              <a:tblPr/>
              <a:tblGrid>
                <a:gridCol w="2324532"/>
                <a:gridCol w="961875"/>
                <a:gridCol w="721406"/>
              </a:tblGrid>
              <a:tr h="365760">
                <a:tc>
                  <a:txBody>
                    <a:bodyPr wrap="square"/>
                    <a:lstStyle/>
                    <a:p>
                      <a:pPr algn="l"/>
                      <a:r>
                        <a:rPr sz="950" b="1">
                          <a:solidFill>
                            <a:srgbClr val="FFFFFF"/>
                          </a:solidFill>
                          <a:latin typeface="Calibri"/>
                        </a:rPr>
                        <a:t>EJEMPLO</a:t>
                      </a:r>
                    </a:p>
                  </a:txBody>
                  <a:tcPr marL="88900" marR="88900" marT="38100" marB="38100" anchor="ctr">
                    <a:solidFill>
                      <a:srgbClr val="1A1818"/>
                    </a:solidFill>
                  </a:tcPr>
                </a:tc>
                <a:tc>
                  <a:txBody>
                    <a:bodyPr wrap="square"/>
                    <a:lstStyle/>
                    <a:p>
                      <a:pPr algn="l"/>
                      <a:r>
                        <a:rPr sz="950" b="1">
                          <a:solidFill>
                            <a:srgbClr val="FFFFFF"/>
                          </a:solidFill>
                          <a:latin typeface="Calibri"/>
                        </a:rPr>
                        <a:t>FORMATO</a:t>
                      </a:r>
                    </a:p>
                  </a:txBody>
                  <a:tcPr marL="88900" marR="88900" marT="38100" marB="38100" anchor="ctr">
                    <a:solidFill>
                      <a:srgbClr val="1A1818"/>
                    </a:solidFill>
                  </a:tcPr>
                </a:tc>
                <a:tc>
                  <a:txBody>
                    <a:bodyPr wrap="square"/>
                    <a:lstStyle/>
                    <a:p>
                      <a:pPr algn="r"/>
                      <a:r>
                        <a:rPr sz="950" b="1">
                          <a:solidFill>
                            <a:srgbClr val="FFFFFF"/>
                          </a:solidFill>
                          <a:latin typeface="Calibri"/>
                        </a:rPr>
                        <a:t>CALIF.</a:t>
                      </a:r>
                    </a:p>
                  </a:txBody>
                  <a:tcPr marL="88900" marR="88900" marT="38100" marB="38100" anchor="ctr">
                    <a:solidFill>
                      <a:srgbClr val="1A1818"/>
                    </a:solidFill>
                  </a:tcPr>
                </a:tc>
              </a:tr>
              <a:tr h="365760">
                <a:tc>
                  <a:txBody>
                    <a:bodyPr wrap="square"/>
                    <a:lstStyle/>
                    <a:p>
                      <a:pPr algn="l"/>
                      <a:r>
                        <a:rPr sz="950" b="0">
                          <a:solidFill>
                            <a:srgbClr val="1A1818"/>
                          </a:solidFill>
                          <a:latin typeface="Calibri"/>
                        </a:rPr>
                        <a:t>When I Fly Towards You</a:t>
                      </a:r>
                    </a:p>
                  </a:txBody>
                  <a:tcPr marL="88900" marR="88900" marT="38100" marB="38100" anchor="ctr">
                    <a:solidFill>
                      <a:srgbClr val="FFFFFF"/>
                    </a:solidFill>
                  </a:tcPr>
                </a:tc>
                <a:tc>
                  <a:txBody>
                    <a:bodyPr wrap="square"/>
                    <a:lstStyle/>
                    <a:p>
                      <a:pPr algn="l"/>
                      <a:r>
                        <a:rPr sz="950" b="0">
                          <a:solidFill>
                            <a:srgbClr val="1A1818"/>
                          </a:solidFill>
                          <a:latin typeface="Calibri"/>
                        </a:rPr>
                        <a:t>Serie</a:t>
                      </a:r>
                    </a:p>
                  </a:txBody>
                  <a:tcPr marL="88900" marR="88900" marT="38100" marB="38100" anchor="ctr">
                    <a:solidFill>
                      <a:srgbClr val="FFFFFF"/>
                    </a:solidFill>
                  </a:tcPr>
                </a:tc>
                <a:tc>
                  <a:txBody>
                    <a:bodyPr wrap="square"/>
                    <a:lstStyle/>
                    <a:p>
                      <a:pPr algn="r"/>
                      <a:r>
                        <a:rPr sz="950" b="0">
                          <a:solidFill>
                            <a:srgbClr val="1A1818"/>
                          </a:solidFill>
                          <a:latin typeface="Calibri"/>
                        </a:rPr>
                        <a:t>9,23</a:t>
                      </a:r>
                    </a:p>
                  </a:txBody>
                  <a:tcPr marL="88900" marR="88900" marT="38100" marB="38100" anchor="ctr">
                    <a:solidFill>
                      <a:srgbClr val="FFFFFF"/>
                    </a:solidFill>
                  </a:tcPr>
                </a:tc>
              </a:tr>
              <a:tr h="365760">
                <a:tc>
                  <a:txBody>
                    <a:bodyPr wrap="square"/>
                    <a:lstStyle/>
                    <a:p>
                      <a:pPr algn="l"/>
                      <a:r>
                        <a:rPr sz="950" b="0">
                          <a:solidFill>
                            <a:srgbClr val="1A1818"/>
                          </a:solidFill>
                          <a:latin typeface="Calibri"/>
                        </a:rPr>
                        <a:t>Selena + Chef</a:t>
                      </a:r>
                    </a:p>
                  </a:txBody>
                  <a:tcPr marL="88900" marR="88900" marT="38100" marB="38100" anchor="ctr">
                    <a:solidFill>
                      <a:srgbClr val="FAF9F8"/>
                    </a:solidFill>
                  </a:tcPr>
                </a:tc>
                <a:tc>
                  <a:txBody>
                    <a:bodyPr wrap="square"/>
                    <a:lstStyle/>
                    <a:p>
                      <a:pPr algn="l"/>
                      <a:r>
                        <a:rPr sz="950" b="0">
                          <a:solidFill>
                            <a:srgbClr val="1A1818"/>
                          </a:solidFill>
                          <a:latin typeface="Calibri"/>
                        </a:rPr>
                        <a:t>Serie</a:t>
                      </a:r>
                    </a:p>
                  </a:txBody>
                  <a:tcPr marL="88900" marR="88900" marT="38100" marB="38100" anchor="ctr">
                    <a:solidFill>
                      <a:srgbClr val="FAF9F8"/>
                    </a:solidFill>
                  </a:tcPr>
                </a:tc>
                <a:tc>
                  <a:txBody>
                    <a:bodyPr wrap="square"/>
                    <a:lstStyle/>
                    <a:p>
                      <a:pPr algn="r"/>
                      <a:r>
                        <a:rPr sz="950" b="0">
                          <a:solidFill>
                            <a:srgbClr val="1A1818"/>
                          </a:solidFill>
                          <a:latin typeface="Calibri"/>
                        </a:rPr>
                        <a:t>9,20</a:t>
                      </a:r>
                    </a:p>
                  </a:txBody>
                  <a:tcPr marL="88900" marR="88900" marT="38100" marB="38100" anchor="ctr">
                    <a:solidFill>
                      <a:srgbClr val="FAF9F8"/>
                    </a:solidFill>
                  </a:tcPr>
                </a:tc>
              </a:tr>
              <a:tr h="365760">
                <a:tc>
                  <a:txBody>
                    <a:bodyPr wrap="square"/>
                    <a:lstStyle/>
                    <a:p>
                      <a:pPr algn="l"/>
                      <a:r>
                        <a:rPr sz="950" b="0">
                          <a:solidFill>
                            <a:srgbClr val="1A1818"/>
                          </a:solidFill>
                          <a:latin typeface="Calibri"/>
                        </a:rPr>
                        <a:t>Break the Silence: The Movie</a:t>
                      </a:r>
                    </a:p>
                  </a:txBody>
                  <a:tcPr marL="88900" marR="88900" marT="38100" marB="38100" anchor="ctr">
                    <a:solidFill>
                      <a:srgbClr val="FFFFFF"/>
                    </a:solidFill>
                  </a:tcPr>
                </a:tc>
                <a:tc>
                  <a:txBody>
                    <a:bodyPr wrap="square"/>
                    <a:lstStyle/>
                    <a:p>
                      <a:pPr algn="l"/>
                      <a:r>
                        <a:rPr sz="950" b="0">
                          <a:solidFill>
                            <a:srgbClr val="1A1818"/>
                          </a:solidFill>
                          <a:latin typeface="Calibri"/>
                        </a:rPr>
                        <a:t>Película</a:t>
                      </a:r>
                    </a:p>
                  </a:txBody>
                  <a:tcPr marL="88900" marR="88900" marT="38100" marB="38100" anchor="ctr">
                    <a:solidFill>
                      <a:srgbClr val="FFFFFF"/>
                    </a:solidFill>
                  </a:tcPr>
                </a:tc>
                <a:tc>
                  <a:txBody>
                    <a:bodyPr wrap="square"/>
                    <a:lstStyle/>
                    <a:p>
                      <a:pPr algn="r"/>
                      <a:r>
                        <a:rPr sz="950" b="0">
                          <a:solidFill>
                            <a:srgbClr val="1A1818"/>
                          </a:solidFill>
                          <a:latin typeface="Calibri"/>
                        </a:rPr>
                        <a:t>9,00</a:t>
                      </a:r>
                    </a:p>
                  </a:txBody>
                  <a:tcPr marL="88900" marR="88900" marT="38100" marB="38100" anchor="ctr">
                    <a:solidFill>
                      <a:srgbClr val="FFFFFF"/>
                    </a:solidFill>
                  </a:tcPr>
                </a:tc>
              </a:tr>
              <a:tr h="365760">
                <a:tc>
                  <a:txBody>
                    <a:bodyPr wrap="square"/>
                    <a:lstStyle/>
                    <a:p>
                      <a:pPr algn="l"/>
                      <a:r>
                        <a:rPr sz="950" b="0">
                          <a:solidFill>
                            <a:srgbClr val="1A1818"/>
                          </a:solidFill>
                          <a:latin typeface="Calibri"/>
                        </a:rPr>
                        <a:t>The Three Deaths of Marisela…</a:t>
                      </a:r>
                    </a:p>
                  </a:txBody>
                  <a:tcPr marL="88900" marR="88900" marT="38100" marB="38100" anchor="ctr">
                    <a:solidFill>
                      <a:srgbClr val="FAF9F8"/>
                    </a:solidFill>
                  </a:tcPr>
                </a:tc>
                <a:tc>
                  <a:txBody>
                    <a:bodyPr wrap="square"/>
                    <a:lstStyle/>
                    <a:p>
                      <a:pPr algn="l"/>
                      <a:r>
                        <a:rPr sz="950" b="0">
                          <a:solidFill>
                            <a:srgbClr val="1A1818"/>
                          </a:solidFill>
                          <a:latin typeface="Calibri"/>
                        </a:rPr>
                        <a:t>Película</a:t>
                      </a:r>
                    </a:p>
                  </a:txBody>
                  <a:tcPr marL="88900" marR="88900" marT="38100" marB="38100" anchor="ctr">
                    <a:solidFill>
                      <a:srgbClr val="FAF9F8"/>
                    </a:solidFill>
                  </a:tcPr>
                </a:tc>
                <a:tc>
                  <a:txBody>
                    <a:bodyPr wrap="square"/>
                    <a:lstStyle/>
                    <a:p>
                      <a:pPr algn="r"/>
                      <a:r>
                        <a:rPr sz="950" b="0">
                          <a:solidFill>
                            <a:srgbClr val="1A1818"/>
                          </a:solidFill>
                          <a:latin typeface="Calibri"/>
                        </a:rPr>
                        <a:t>8,90</a:t>
                      </a:r>
                    </a:p>
                  </a:txBody>
                  <a:tcPr marL="88900" marR="88900" marT="38100" marB="38100" anchor="ctr">
                    <a:solidFill>
                      <a:srgbClr val="FAF9F8"/>
                    </a:solidFill>
                  </a:tcPr>
                </a:tc>
              </a:tr>
            </a:tbl>
          </a:graphicData>
        </a:graphic>
      </p:graphicFrame>
      <p:sp>
        <p:nvSpPr>
          <p:cNvPr id="11" name="TextBox 10"/>
          <p:cNvSpPr txBox="1"/>
          <p:nvPr/>
        </p:nvSpPr>
        <p:spPr>
          <a:xfrm>
            <a:off x="7680960" y="5989320"/>
            <a:ext cx="4007815" cy="365760"/>
          </a:xfrm>
          <a:prstGeom prst="rect">
            <a:avLst/>
          </a:prstGeom>
          <a:noFill/>
        </p:spPr>
        <p:txBody>
          <a:bodyPr wrap="square" anchor="t" lIns="0" rIns="0" tIns="0" bIns="0">
            <a:noAutofit/>
          </a:bodyPr>
          <a:lstStyle/>
          <a:p>
            <a:pPr algn="l">
              <a:lnSpc>
                <a:spcPct val="120000"/>
              </a:lnSpc>
            </a:pPr>
            <a:r>
              <a:rPr sz="1000" b="0" i="1">
                <a:solidFill>
                  <a:srgbClr val="6B6B6B"/>
                </a:solidFill>
                <a:latin typeface="Calibri"/>
              </a:rPr>
              <a:t>Costo de adquisición de contenido: cero. La palanca es exposición, no compra.</a:t>
            </a:r>
          </a:p>
        </p:txBody>
      </p:sp>
      <p:sp>
        <p:nvSpPr>
          <p:cNvPr id="12" name="TextBox 11"/>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13" name="TextBox 12"/>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RECOMENDACIONES</a:t>
            </a:r>
          </a:p>
        </p:txBody>
      </p:sp>
      <p:sp>
        <p:nvSpPr>
          <p:cNvPr id="4" name="TextBox 3"/>
          <p:cNvSpPr txBox="1"/>
          <p:nvPr/>
        </p:nvSpPr>
        <p:spPr>
          <a:xfrm>
            <a:off x="502920" y="786384"/>
            <a:ext cx="10607040" cy="1051560"/>
          </a:xfrm>
          <a:prstGeom prst="rect">
            <a:avLst/>
          </a:prstGeom>
          <a:noFill/>
        </p:spPr>
        <p:txBody>
          <a:bodyPr wrap="square" anchor="t" lIns="0" rIns="0" tIns="0" bIns="0">
            <a:noAutofit/>
          </a:bodyPr>
          <a:lstStyle/>
          <a:p>
            <a:pPr algn="l">
              <a:lnSpc>
                <a:spcPct val="104000"/>
              </a:lnSpc>
            </a:pPr>
            <a:r>
              <a:rPr sz="2500" b="1" i="0">
                <a:solidFill>
                  <a:srgbClr val="1A1818"/>
                </a:solidFill>
                <a:latin typeface="Cambria"/>
              </a:rPr>
              <a:t>Cinco decisiones, ordenadas por costo de implementación</a:t>
            </a:r>
          </a:p>
        </p:txBody>
      </p:sp>
      <p:graphicFrame>
        <p:nvGraphicFramePr>
          <p:cNvPr id="5" name="Table 4"/>
          <p:cNvGraphicFramePr>
            <a:graphicFrameLocks noGrp="1"/>
          </p:cNvGraphicFramePr>
          <p:nvPr/>
        </p:nvGraphicFramePr>
        <p:xfrm>
          <a:off x="502920" y="1874519"/>
          <a:ext cx="11064240" cy="3950208"/>
        </p:xfrm>
        <a:graphic>
          <a:graphicData uri="http://schemas.openxmlformats.org/drawingml/2006/table">
            <a:tbl>
              <a:tblPr/>
              <a:tblGrid>
                <a:gridCol w="457200"/>
                <a:gridCol w="2651760"/>
                <a:gridCol w="6217920"/>
                <a:gridCol w="1737360"/>
              </a:tblGrid>
              <a:tr h="658368">
                <a:tc>
                  <a:txBody>
                    <a:bodyPr wrap="square"/>
                    <a:lstStyle/>
                    <a:p>
                      <a:pPr algn="l"/>
                      <a:r>
                        <a:rPr sz="950" b="1">
                          <a:solidFill>
                            <a:srgbClr val="FFFFFF"/>
                          </a:solidFill>
                          <a:latin typeface="Calibri"/>
                        </a:rPr>
                        <a:t>#</a:t>
                      </a:r>
                    </a:p>
                  </a:txBody>
                  <a:tcPr marL="88900" marR="88900" marT="38100" marB="38100" anchor="ctr">
                    <a:solidFill>
                      <a:srgbClr val="1A1818"/>
                    </a:solidFill>
                  </a:tcPr>
                </a:tc>
                <a:tc>
                  <a:txBody>
                    <a:bodyPr wrap="square"/>
                    <a:lstStyle/>
                    <a:p>
                      <a:pPr algn="l"/>
                      <a:r>
                        <a:rPr sz="950" b="1">
                          <a:solidFill>
                            <a:srgbClr val="FFFFFF"/>
                          </a:solidFill>
                          <a:latin typeface="Calibri"/>
                        </a:rPr>
                        <a:t>RECOMENDACIÓN</a:t>
                      </a:r>
                    </a:p>
                  </a:txBody>
                  <a:tcPr marL="88900" marR="88900" marT="38100" marB="38100" anchor="ctr">
                    <a:solidFill>
                      <a:srgbClr val="1A1818"/>
                    </a:solidFill>
                  </a:tcPr>
                </a:tc>
                <a:tc>
                  <a:txBody>
                    <a:bodyPr wrap="square"/>
                    <a:lstStyle/>
                    <a:p>
                      <a:pPr algn="l"/>
                      <a:r>
                        <a:rPr sz="950" b="1">
                          <a:solidFill>
                            <a:srgbClr val="FFFFFF"/>
                          </a:solidFill>
                          <a:latin typeface="Calibri"/>
                        </a:rPr>
                        <a:t>FUNDAMENTO</a:t>
                      </a:r>
                    </a:p>
                  </a:txBody>
                  <a:tcPr marL="88900" marR="88900" marT="38100" marB="38100" anchor="ctr">
                    <a:solidFill>
                      <a:srgbClr val="1A1818"/>
                    </a:solidFill>
                  </a:tcPr>
                </a:tc>
                <a:tc>
                  <a:txBody>
                    <a:bodyPr wrap="square"/>
                    <a:lstStyle/>
                    <a:p>
                      <a:pPr algn="l"/>
                      <a:r>
                        <a:rPr sz="950" b="1">
                          <a:solidFill>
                            <a:srgbClr val="FFFFFF"/>
                          </a:solidFill>
                          <a:latin typeface="Calibri"/>
                        </a:rPr>
                        <a:t>COSTO</a:t>
                      </a:r>
                    </a:p>
                  </a:txBody>
                  <a:tcPr marL="88900" marR="88900" marT="38100" marB="38100" anchor="ctr">
                    <a:solidFill>
                      <a:srgbClr val="1A1818"/>
                    </a:solidFill>
                  </a:tcPr>
                </a:tc>
              </a:tr>
              <a:tr h="658368">
                <a:tc>
                  <a:txBody>
                    <a:bodyPr wrap="square"/>
                    <a:lstStyle/>
                    <a:p>
                      <a:pPr algn="l"/>
                      <a:r>
                        <a:rPr sz="1200" b="0">
                          <a:solidFill>
                            <a:srgbClr val="1A1818"/>
                          </a:solidFill>
                          <a:latin typeface="Calibri"/>
                        </a:rPr>
                        <a:t>1</a:t>
                      </a:r>
                    </a:p>
                  </a:txBody>
                  <a:tcPr marL="88900" marR="88900" marT="38100" marB="38100" anchor="ctr">
                    <a:solidFill>
                      <a:srgbClr val="FFFFFF"/>
                    </a:solidFill>
                  </a:tcPr>
                </a:tc>
                <a:tc>
                  <a:txBody>
                    <a:bodyPr wrap="square"/>
                    <a:lstStyle/>
                    <a:p>
                      <a:pPr algn="l"/>
                      <a:r>
                        <a:rPr sz="1200" b="1">
                          <a:solidFill>
                            <a:srgbClr val="1A1818"/>
                          </a:solidFill>
                          <a:latin typeface="Calibri"/>
                        </a:rPr>
                        <a:t>Activar la calidad sin visibilidad</a:t>
                      </a:r>
                    </a:p>
                  </a:txBody>
                  <a:tcPr marL="88900" marR="88900" marT="38100" marB="38100" anchor="ctr">
                    <a:solidFill>
                      <a:srgbClr val="FFFFFF"/>
                    </a:solidFill>
                  </a:tcPr>
                </a:tc>
                <a:tc>
                  <a:txBody>
                    <a:bodyPr wrap="square"/>
                    <a:lstStyle/>
                    <a:p>
                      <a:pPr algn="l"/>
                      <a:r>
                        <a:rPr sz="1200" b="0">
                          <a:solidFill>
                            <a:srgbClr val="1A1818"/>
                          </a:solidFill>
                          <a:latin typeface="Calibri"/>
                        </a:rPr>
                        <a:t>3.222 títulos bien evaluados sin exposición: contenido ya pagado</a:t>
                      </a:r>
                    </a:p>
                  </a:txBody>
                  <a:tcPr marL="88900" marR="88900" marT="38100" marB="38100" anchor="ctr">
                    <a:solidFill>
                      <a:srgbClr val="FFFFFF"/>
                    </a:solidFill>
                  </a:tcPr>
                </a:tc>
                <a:tc>
                  <a:txBody>
                    <a:bodyPr wrap="square"/>
                    <a:lstStyle/>
                    <a:p>
                      <a:pPr algn="l"/>
                      <a:r>
                        <a:rPr sz="1200" b="1">
                          <a:solidFill>
                            <a:srgbClr val="009E73"/>
                          </a:solidFill>
                          <a:latin typeface="Calibri"/>
                        </a:rPr>
                        <a:t>Marginal cero</a:t>
                      </a:r>
                    </a:p>
                  </a:txBody>
                  <a:tcPr marL="88900" marR="88900" marT="38100" marB="38100" anchor="ctr">
                    <a:solidFill>
                      <a:srgbClr val="FFFFFF"/>
                    </a:solidFill>
                  </a:tcPr>
                </a:tc>
              </a:tr>
              <a:tr h="658368">
                <a:tc>
                  <a:txBody>
                    <a:bodyPr wrap="square"/>
                    <a:lstStyle/>
                    <a:p>
                      <a:pPr algn="l"/>
                      <a:r>
                        <a:rPr sz="1200" b="0">
                          <a:solidFill>
                            <a:srgbClr val="1A1818"/>
                          </a:solidFill>
                          <a:latin typeface="Calibri"/>
                        </a:rPr>
                        <a:t>2</a:t>
                      </a:r>
                    </a:p>
                  </a:txBody>
                  <a:tcPr marL="88900" marR="88900" marT="38100" marB="38100" anchor="ctr">
                    <a:solidFill>
                      <a:srgbClr val="FAF9F8"/>
                    </a:solidFill>
                  </a:tcPr>
                </a:tc>
                <a:tc>
                  <a:txBody>
                    <a:bodyPr wrap="square"/>
                    <a:lstStyle/>
                    <a:p>
                      <a:pPr algn="l"/>
                      <a:r>
                        <a:rPr sz="1200" b="1">
                          <a:solidFill>
                            <a:srgbClr val="1A1818"/>
                          </a:solidFill>
                          <a:latin typeface="Calibri"/>
                        </a:rPr>
                        <a:t>Rebalancear la adquisición</a:t>
                      </a:r>
                    </a:p>
                  </a:txBody>
                  <a:tcPr marL="88900" marR="88900" marT="38100" marB="38100" anchor="ctr">
                    <a:solidFill>
                      <a:srgbClr val="FAF9F8"/>
                    </a:solidFill>
                  </a:tcPr>
                </a:tc>
                <a:tc>
                  <a:txBody>
                    <a:bodyPr wrap="square"/>
                    <a:lstStyle/>
                    <a:p>
                      <a:pPr algn="l"/>
                      <a:r>
                        <a:rPr sz="1200" b="0">
                          <a:solidFill>
                            <a:srgbClr val="1A1818"/>
                          </a:solidFill>
                          <a:latin typeface="Calibri"/>
                        </a:rPr>
                        <a:t>Géneros como documental y mercados como el japonés: alta valoración, baja presencia</a:t>
                      </a:r>
                    </a:p>
                  </a:txBody>
                  <a:tcPr marL="88900" marR="88900" marT="38100" marB="38100" anchor="ctr">
                    <a:solidFill>
                      <a:srgbClr val="FAF9F8"/>
                    </a:solidFill>
                  </a:tcPr>
                </a:tc>
                <a:tc>
                  <a:txBody>
                    <a:bodyPr wrap="square"/>
                    <a:lstStyle/>
                    <a:p>
                      <a:pPr algn="l"/>
                      <a:r>
                        <a:rPr sz="1200" b="0">
                          <a:solidFill>
                            <a:srgbClr val="1A1818"/>
                          </a:solidFill>
                          <a:latin typeface="Calibri"/>
                        </a:rPr>
                        <a:t>Medio</a:t>
                      </a:r>
                    </a:p>
                  </a:txBody>
                  <a:tcPr marL="88900" marR="88900" marT="38100" marB="38100" anchor="ctr">
                    <a:solidFill>
                      <a:srgbClr val="FAF9F8"/>
                    </a:solidFill>
                  </a:tcPr>
                </a:tc>
              </a:tr>
              <a:tr h="658368">
                <a:tc>
                  <a:txBody>
                    <a:bodyPr wrap="square"/>
                    <a:lstStyle/>
                    <a:p>
                      <a:pPr algn="l"/>
                      <a:r>
                        <a:rPr sz="1200" b="0">
                          <a:solidFill>
                            <a:srgbClr val="1A1818"/>
                          </a:solidFill>
                          <a:latin typeface="Calibri"/>
                        </a:rPr>
                        <a:t>3</a:t>
                      </a:r>
                    </a:p>
                  </a:txBody>
                  <a:tcPr marL="88900" marR="88900" marT="38100" marB="38100" anchor="ctr">
                    <a:solidFill>
                      <a:srgbClr val="FFFFFF"/>
                    </a:solidFill>
                  </a:tcPr>
                </a:tc>
                <a:tc>
                  <a:txBody>
                    <a:bodyPr wrap="square"/>
                    <a:lstStyle/>
                    <a:p>
                      <a:pPr algn="l"/>
                      <a:r>
                        <a:rPr sz="1200" b="1">
                          <a:solidFill>
                            <a:srgbClr val="1A1818"/>
                          </a:solidFill>
                          <a:latin typeface="Calibri"/>
                        </a:rPr>
                        <a:t>Reforzar el formato serie</a:t>
                      </a:r>
                    </a:p>
                  </a:txBody>
                  <a:tcPr marL="88900" marR="88900" marT="38100" marB="38100" anchor="ctr">
                    <a:solidFill>
                      <a:srgbClr val="FFFFFF"/>
                    </a:solidFill>
                  </a:tcPr>
                </a:tc>
                <a:tc>
                  <a:txBody>
                    <a:bodyPr wrap="square"/>
                    <a:lstStyle/>
                    <a:p>
                      <a:pPr algn="l"/>
                      <a:r>
                        <a:rPr sz="1200" b="0">
                          <a:solidFill>
                            <a:srgbClr val="1A1818"/>
                          </a:solidFill>
                          <a:latin typeface="Calibri"/>
                        </a:rPr>
                        <a:t>Ventaja de 0,71 puntos sostenida 16 años sin excepción</a:t>
                      </a:r>
                    </a:p>
                  </a:txBody>
                  <a:tcPr marL="88900" marR="88900" marT="38100" marB="38100" anchor="ctr">
                    <a:solidFill>
                      <a:srgbClr val="FFFFFF"/>
                    </a:solidFill>
                  </a:tcPr>
                </a:tc>
                <a:tc>
                  <a:txBody>
                    <a:bodyPr wrap="square"/>
                    <a:lstStyle/>
                    <a:p>
                      <a:pPr algn="l"/>
                      <a:r>
                        <a:rPr sz="1200" b="0">
                          <a:solidFill>
                            <a:srgbClr val="1A1818"/>
                          </a:solidFill>
                          <a:latin typeface="Calibri"/>
                        </a:rPr>
                        <a:t>Alto</a:t>
                      </a:r>
                    </a:p>
                  </a:txBody>
                  <a:tcPr marL="88900" marR="88900" marT="38100" marB="38100" anchor="ctr">
                    <a:solidFill>
                      <a:srgbClr val="FFFFFF"/>
                    </a:solidFill>
                  </a:tcPr>
                </a:tc>
              </a:tr>
              <a:tr h="658368">
                <a:tc>
                  <a:txBody>
                    <a:bodyPr wrap="square"/>
                    <a:lstStyle/>
                    <a:p>
                      <a:pPr algn="l"/>
                      <a:r>
                        <a:rPr sz="1200" b="0">
                          <a:solidFill>
                            <a:srgbClr val="1A1818"/>
                          </a:solidFill>
                          <a:latin typeface="Calibri"/>
                        </a:rPr>
                        <a:t>4</a:t>
                      </a:r>
                    </a:p>
                  </a:txBody>
                  <a:tcPr marL="88900" marR="88900" marT="38100" marB="38100" anchor="ctr">
                    <a:solidFill>
                      <a:srgbClr val="FAF9F8"/>
                    </a:solidFill>
                  </a:tcPr>
                </a:tc>
                <a:tc>
                  <a:txBody>
                    <a:bodyPr wrap="square"/>
                    <a:lstStyle/>
                    <a:p>
                      <a:pPr algn="l"/>
                      <a:r>
                        <a:rPr sz="1200" b="1">
                          <a:solidFill>
                            <a:srgbClr val="1A1818"/>
                          </a:solidFill>
                          <a:latin typeface="Calibri"/>
                        </a:rPr>
                        <a:t>Revisar el tramo medio de inversión</a:t>
                      </a:r>
                    </a:p>
                  </a:txBody>
                  <a:tcPr marL="88900" marR="88900" marT="38100" marB="38100" anchor="ctr">
                    <a:solidFill>
                      <a:srgbClr val="FAF9F8"/>
                    </a:solidFill>
                  </a:tcPr>
                </a:tc>
                <a:tc>
                  <a:txBody>
                    <a:bodyPr wrap="square"/>
                    <a:lstStyle/>
                    <a:p>
                      <a:pPr algn="l"/>
                      <a:r>
                        <a:rPr sz="1200" b="0">
                          <a:solidFill>
                            <a:srgbClr val="1A1818"/>
                          </a:solidFill>
                          <a:latin typeface="Calibri"/>
                        </a:rPr>
                        <a:t>56,2% de éxito frente a 89,6% en el tramo muy alto</a:t>
                      </a:r>
                    </a:p>
                  </a:txBody>
                  <a:tcPr marL="88900" marR="88900" marT="38100" marB="38100" anchor="ctr">
                    <a:solidFill>
                      <a:srgbClr val="FAF9F8"/>
                    </a:solidFill>
                  </a:tcPr>
                </a:tc>
                <a:tc>
                  <a:txBody>
                    <a:bodyPr wrap="square"/>
                    <a:lstStyle/>
                    <a:p>
                      <a:pPr algn="l"/>
                      <a:r>
                        <a:rPr sz="1200" b="0">
                          <a:solidFill>
                            <a:srgbClr val="1A1818"/>
                          </a:solidFill>
                          <a:latin typeface="Calibri"/>
                        </a:rPr>
                        <a:t>Reasignación</a:t>
                      </a:r>
                    </a:p>
                  </a:txBody>
                  <a:tcPr marL="88900" marR="88900" marT="38100" marB="38100" anchor="ctr">
                    <a:solidFill>
                      <a:srgbClr val="FAF9F8"/>
                    </a:solidFill>
                  </a:tcPr>
                </a:tc>
              </a:tr>
              <a:tr h="658368">
                <a:tc>
                  <a:txBody>
                    <a:bodyPr wrap="square"/>
                    <a:lstStyle/>
                    <a:p>
                      <a:pPr algn="l"/>
                      <a:r>
                        <a:rPr sz="1200" b="0">
                          <a:solidFill>
                            <a:srgbClr val="1A1818"/>
                          </a:solidFill>
                          <a:latin typeface="Calibri"/>
                        </a:rPr>
                        <a:t>5</a:t>
                      </a:r>
                    </a:p>
                  </a:txBody>
                  <a:tcPr marL="88900" marR="88900" marT="38100" marB="38100" anchor="ctr">
                    <a:solidFill>
                      <a:srgbClr val="FFFFFF"/>
                    </a:solidFill>
                  </a:tcPr>
                </a:tc>
                <a:tc>
                  <a:txBody>
                    <a:bodyPr wrap="square"/>
                    <a:lstStyle/>
                    <a:p>
                      <a:pPr algn="l"/>
                      <a:r>
                        <a:rPr sz="1200" b="1">
                          <a:solidFill>
                            <a:srgbClr val="1A1818"/>
                          </a:solidFill>
                          <a:latin typeface="Calibri"/>
                        </a:rPr>
                        <a:t>Incorporar datos de usuario</a:t>
                      </a:r>
                    </a:p>
                  </a:txBody>
                  <a:tcPr marL="88900" marR="88900" marT="38100" marB="38100" anchor="ctr">
                    <a:solidFill>
                      <a:srgbClr val="FFFFFF"/>
                    </a:solidFill>
                  </a:tcPr>
                </a:tc>
                <a:tc>
                  <a:txBody>
                    <a:bodyPr wrap="square"/>
                    <a:lstStyle/>
                    <a:p>
                      <a:pPr algn="l"/>
                      <a:r>
                        <a:rPr sz="1200" b="0">
                          <a:solidFill>
                            <a:srgbClr val="1A1818"/>
                          </a:solidFill>
                          <a:latin typeface="Calibri"/>
                        </a:rPr>
                        <a:t>Permitiría medir el efecto real sobre la retención</a:t>
                      </a:r>
                    </a:p>
                  </a:txBody>
                  <a:tcPr marL="88900" marR="88900" marT="38100" marB="38100" anchor="ctr">
                    <a:solidFill>
                      <a:srgbClr val="FFFFFF"/>
                    </a:solidFill>
                  </a:tcPr>
                </a:tc>
                <a:tc>
                  <a:txBody>
                    <a:bodyPr wrap="square"/>
                    <a:lstStyle/>
                    <a:p>
                      <a:pPr algn="l"/>
                      <a:r>
                        <a:rPr sz="1200" b="0">
                          <a:solidFill>
                            <a:srgbClr val="1A1818"/>
                          </a:solidFill>
                          <a:latin typeface="Calibri"/>
                        </a:rPr>
                        <a:t>Proyecto</a:t>
                      </a:r>
                    </a:p>
                  </a:txBody>
                  <a:tcPr marL="88900" marR="88900" marT="38100" marB="38100" anchor="ctr">
                    <a:solidFill>
                      <a:srgbClr val="FFFFFF"/>
                    </a:solidFill>
                  </a:tcPr>
                </a:tc>
              </a:tr>
            </a:tbl>
          </a:graphicData>
        </a:graphic>
      </p:graphicFrame>
      <p:sp>
        <p:nvSpPr>
          <p:cNvPr id="6" name="TextBox 5"/>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B8B4B4"/>
                </a:solidFill>
                <a:latin typeface="Calibri"/>
              </a:rPr>
              <a:t>Stream</a:t>
            </a:r>
            <a:r>
              <a:rPr sz="900" b="1" i="0">
                <a:solidFill>
                  <a:srgbClr val="E50914"/>
                </a:solidFill>
                <a:latin typeface="Calibri"/>
              </a:rPr>
              <a:t>View</a:t>
            </a:r>
            <a:r>
              <a:rPr sz="900" b="1" i="0">
                <a:solidFill>
                  <a:srgbClr val="B8B4B4"/>
                </a:solidFill>
                <a:latin typeface="Calibri"/>
              </a:rPr>
              <a:t> Analytics</a:t>
            </a:r>
          </a:p>
        </p:txBody>
      </p:sp>
      <p:sp>
        <p:nvSpPr>
          <p:cNvPr id="7" name="TextBox 6"/>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B8B4B4"/>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38912"/>
            <a:ext cx="10515600" cy="292608"/>
          </a:xfrm>
          <a:prstGeom prst="rect">
            <a:avLst/>
          </a:prstGeom>
          <a:noFill/>
        </p:spPr>
        <p:txBody>
          <a:bodyPr wrap="square" anchor="t" lIns="0" rIns="0" tIns="0" bIns="0">
            <a:noAutofit/>
          </a:bodyPr>
          <a:lstStyle/>
          <a:p>
            <a:pPr algn="l">
              <a:lnSpc>
                <a:spcPct val="100000"/>
              </a:lnSpc>
            </a:pPr>
            <a:r>
              <a:rPr sz="1100" b="1" i="0">
                <a:solidFill>
                  <a:srgbClr val="E50914"/>
                </a:solidFill>
                <a:latin typeface="Calibri"/>
              </a:rPr>
              <a:t>CONCLUSIÓN</a:t>
            </a:r>
          </a:p>
        </p:txBody>
      </p:sp>
      <p:sp>
        <p:nvSpPr>
          <p:cNvPr id="4" name="TextBox 3"/>
          <p:cNvSpPr txBox="1"/>
          <p:nvPr/>
        </p:nvSpPr>
        <p:spPr>
          <a:xfrm>
            <a:off x="502920" y="2011680"/>
            <a:ext cx="10789920" cy="1828800"/>
          </a:xfrm>
          <a:prstGeom prst="rect">
            <a:avLst/>
          </a:prstGeom>
          <a:noFill/>
        </p:spPr>
        <p:txBody>
          <a:bodyPr wrap="square" anchor="t" lIns="0" rIns="0" tIns="0" bIns="0">
            <a:noAutofit/>
          </a:bodyPr>
          <a:lstStyle/>
          <a:p>
            <a:pPr algn="l">
              <a:lnSpc>
                <a:spcPct val="115000"/>
              </a:lnSpc>
            </a:pPr>
            <a:r>
              <a:rPr sz="3200" b="1" i="0">
                <a:solidFill>
                  <a:srgbClr val="FFFFFF"/>
                </a:solidFill>
                <a:latin typeface="Cambria"/>
              </a:rPr>
              <a:t>StreamView Analytics no tiene un problema de catálogo.
Tiene un problema de visibilidad.</a:t>
            </a:r>
          </a:p>
        </p:txBody>
      </p:sp>
      <p:sp>
        <p:nvSpPr>
          <p:cNvPr id="5" name="TextBox 4"/>
          <p:cNvSpPr txBox="1"/>
          <p:nvPr/>
        </p:nvSpPr>
        <p:spPr>
          <a:xfrm>
            <a:off x="502920" y="3703320"/>
            <a:ext cx="9601200" cy="914400"/>
          </a:xfrm>
          <a:prstGeom prst="rect">
            <a:avLst/>
          </a:prstGeom>
          <a:noFill/>
        </p:spPr>
        <p:txBody>
          <a:bodyPr wrap="square" anchor="t" lIns="0" rIns="0" tIns="0" bIns="0">
            <a:noAutofit/>
          </a:bodyPr>
          <a:lstStyle/>
          <a:p>
            <a:pPr algn="l">
              <a:lnSpc>
                <a:spcPct val="135000"/>
              </a:lnSpc>
            </a:pPr>
            <a:r>
              <a:rPr sz="1500" b="0" i="0">
                <a:solidFill>
                  <a:srgbClr val="B8B4B4"/>
                </a:solidFill>
                <a:latin typeface="Calibri"/>
              </a:rPr>
              <a:t>El contenido que su audiencia mejor valora ya está comprado. Solo no se está mostrando.</a:t>
            </a:r>
          </a:p>
        </p:txBody>
      </p:sp>
      <p:sp>
        <p:nvSpPr>
          <p:cNvPr id="6" name="TextBox 5"/>
          <p:cNvSpPr txBox="1"/>
          <p:nvPr/>
        </p:nvSpPr>
        <p:spPr>
          <a:xfrm>
            <a:off x="502920" y="4434840"/>
            <a:ext cx="9601200" cy="640080"/>
          </a:xfrm>
          <a:prstGeom prst="rect">
            <a:avLst/>
          </a:prstGeom>
          <a:noFill/>
        </p:spPr>
        <p:txBody>
          <a:bodyPr wrap="square" anchor="t" lIns="0" rIns="0" tIns="0" bIns="0">
            <a:noAutofit/>
          </a:bodyPr>
          <a:lstStyle/>
          <a:p>
            <a:pPr algn="l">
              <a:lnSpc>
                <a:spcPct val="130000"/>
              </a:lnSpc>
            </a:pPr>
            <a:r>
              <a:rPr sz="1300" b="0" i="0">
                <a:solidFill>
                  <a:srgbClr val="8E8A8A"/>
                </a:solidFill>
                <a:latin typeface="Calibri"/>
              </a:rPr>
              <a:t>De todas las palancas examinadas, cerrar esa brecha es la de menor costo y mayor retorno esperado.</a:t>
            </a:r>
          </a:p>
        </p:txBody>
      </p:sp>
      <p:sp>
        <p:nvSpPr>
          <p:cNvPr id="7" name="TextBox 6"/>
          <p:cNvSpPr txBox="1"/>
          <p:nvPr/>
        </p:nvSpPr>
        <p:spPr>
          <a:xfrm>
            <a:off x="502920" y="5349240"/>
            <a:ext cx="10058400" cy="640080"/>
          </a:xfrm>
          <a:prstGeom prst="rect">
            <a:avLst/>
          </a:prstGeom>
          <a:noFill/>
        </p:spPr>
        <p:txBody>
          <a:bodyPr wrap="square" anchor="t" lIns="0" rIns="0" tIns="0" bIns="0">
            <a:noAutofit/>
          </a:bodyPr>
          <a:lstStyle/>
          <a:p>
            <a:pPr algn="l">
              <a:lnSpc>
                <a:spcPct val="130000"/>
              </a:lnSpc>
            </a:pPr>
            <a:r>
              <a:rPr sz="1000" b="0" i="0">
                <a:solidFill>
                  <a:srgbClr val="6B6B6B"/>
                </a:solidFill>
                <a:latin typeface="Calibri"/>
              </a:rPr>
              <a:t>Esta narrativa se sostuvo en tres canales: </a:t>
            </a:r>
            <a:r>
              <a:rPr sz="1000" b="1" i="0">
                <a:solidFill>
                  <a:srgbClr val="B8B4B4"/>
                </a:solidFill>
                <a:latin typeface="Calibri"/>
              </a:rPr>
              <a:t>oral</a:t>
            </a:r>
            <a:r>
              <a:rPr sz="1000" b="0" i="0">
                <a:solidFill>
                  <a:srgbClr val="6B6B6B"/>
                </a:solidFill>
                <a:latin typeface="Calibri"/>
              </a:rPr>
              <a:t> durante la defensa, </a:t>
            </a:r>
            <a:r>
              <a:rPr sz="1000" b="1" i="0">
                <a:solidFill>
                  <a:srgbClr val="B8B4B4"/>
                </a:solidFill>
                <a:latin typeface="Calibri"/>
              </a:rPr>
              <a:t>escrita</a:t>
            </a:r>
            <a:r>
              <a:rPr sz="1000" b="0" i="0">
                <a:solidFill>
                  <a:srgbClr val="6B6B6B"/>
                </a:solidFill>
                <a:latin typeface="Calibri"/>
              </a:rPr>
              <a:t> en el informe ejecutivo, y </a:t>
            </a:r>
            <a:r>
              <a:rPr sz="1000" b="1" i="0">
                <a:solidFill>
                  <a:srgbClr val="B8B4B4"/>
                </a:solidFill>
                <a:latin typeface="Calibri"/>
              </a:rPr>
              <a:t>visual</a:t>
            </a:r>
            <a:r>
              <a:rPr sz="1000" b="0" i="0">
                <a:solidFill>
                  <a:srgbClr val="6B6B6B"/>
                </a:solidFill>
                <a:latin typeface="Calibri"/>
              </a:rPr>
              <a:t> en estas diapositivas y en el dashboard interactivo.</a:t>
            </a:r>
          </a:p>
        </p:txBody>
      </p:sp>
      <p:sp>
        <p:nvSpPr>
          <p:cNvPr id="8" name="TextBox 7"/>
          <p:cNvSpPr txBox="1"/>
          <p:nvPr/>
        </p:nvSpPr>
        <p:spPr>
          <a:xfrm>
            <a:off x="502920" y="6473952"/>
            <a:ext cx="3657600" cy="274320"/>
          </a:xfrm>
          <a:prstGeom prst="rect">
            <a:avLst/>
          </a:prstGeom>
          <a:noFill/>
        </p:spPr>
        <p:txBody>
          <a:bodyPr wrap="square" anchor="t" lIns="0" rIns="0" tIns="0" bIns="0">
            <a:noAutofit/>
          </a:bodyPr>
          <a:lstStyle/>
          <a:p>
            <a:pPr algn="l"/>
            <a:r>
              <a:rPr sz="900" b="1" i="0">
                <a:solidFill>
                  <a:srgbClr val="8E8A8A"/>
                </a:solidFill>
                <a:latin typeface="Calibri"/>
              </a:rPr>
              <a:t>Stream</a:t>
            </a:r>
            <a:r>
              <a:rPr sz="900" b="1" i="0">
                <a:solidFill>
                  <a:srgbClr val="E50914"/>
                </a:solidFill>
                <a:latin typeface="Calibri"/>
              </a:rPr>
              <a:t>View</a:t>
            </a:r>
            <a:r>
              <a:rPr sz="900" b="1" i="0">
                <a:solidFill>
                  <a:srgbClr val="8E8A8A"/>
                </a:solidFill>
                <a:latin typeface="Calibri"/>
              </a:rPr>
              <a:t> Analytics</a:t>
            </a:r>
          </a:p>
        </p:txBody>
      </p:sp>
      <p:sp>
        <p:nvSpPr>
          <p:cNvPr id="9" name="TextBox 8"/>
          <p:cNvSpPr txBox="1"/>
          <p:nvPr/>
        </p:nvSpPr>
        <p:spPr>
          <a:xfrm>
            <a:off x="11475720" y="6473952"/>
            <a:ext cx="320040" cy="274320"/>
          </a:xfrm>
          <a:prstGeom prst="rect">
            <a:avLst/>
          </a:prstGeom>
          <a:noFill/>
        </p:spPr>
        <p:txBody>
          <a:bodyPr wrap="square" anchor="t" lIns="0" rIns="0" tIns="0" bIns="0">
            <a:noAutofit/>
          </a:bodyPr>
          <a:lstStyle/>
          <a:p>
            <a:pPr algn="r">
              <a:lnSpc>
                <a:spcPct val="100000"/>
              </a:lnSpc>
            </a:pPr>
            <a:r>
              <a:rPr sz="900" b="0" i="0">
                <a:solidFill>
                  <a:srgbClr val="8E8A8A"/>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